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Big Shoulders ExtraBold" panose="020B0604020202020204" charset="0"/>
      <p:regular r:id="rId13"/>
    </p:embeddedFont>
    <p:embeddedFont>
      <p:font typeface="Hanken Grotesk" panose="020B0604020202020204" charset="0"/>
      <p:regular r:id="rId14"/>
    </p:embeddedFont>
    <p:embeddedFont>
      <p:font typeface="Hanken Grotesk Bold" panose="020B0604020202020204" charset="0"/>
      <p:regular r:id="rId15"/>
    </p:embeddedFont>
    <p:embeddedFont>
      <p:font typeface="Hanken Grotesk SemiBold" panose="020B0604020202020204" charset="0"/>
      <p:regular r:id="rId16"/>
    </p:embeddedFont>
    <p:embeddedFont>
      <p:font typeface="Red Hat Mono Medium" panose="020B0604020202020204"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presents the operational role of a rental car fleet manager, from procurement and maintenance to logistics, finance and technology.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fleet manager as the operational backbone. The role connects vehicles, people, costs, customer demand and compliance into one operating system.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full lifecycle as context, then narrow the audience's attention to the rental-management stage: searching, availability, renting, returning, and rental-cost calculation. Purchasing, maintenance, and disposal are outside the current Java program.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a growing rental fleet manually makes it difficult to track availability, find the right car quickly and keep rental status current. This project addresses that problem with a computerized system that organizes these operations.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six core objectives of the Java Rental Car Fleet Manager: organize vehicle information, find and track cars, manage rentals and returns, calculate charges, and keep vehicle status current automatically.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introduces the Java implementation behind the rental car fleet manager, connecting core Java concepts to the system's practical design.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implementation in three layers: foundational data and logic, the control structures that guide decisions and repetition, and reusable methods working with arrays. The slide intentionally focuses only on concepts used in the current Java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Allocation is the connection between demand and vehicle availability. The manager uses reservation patterns to move vehicles between branches, airports and urban hubs without creating shortages elsewhere.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Java application's menu-driven flow: the user selects an operation, the system validates input and availability, updates the car status, displays the result, and returns to the main menu. Selecting 5 exits the program.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by connecting the Java concepts to a practical rental car management system, then distinguish the proposed future improvements from the functionality already implemented.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BFAF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5000"/>
            </a:srgbClr>
          </a:solidFill>
          <a:ln/>
        </p:spPr>
      </p:sp>
      <p:sp>
        <p:nvSpPr>
          <p:cNvPr id="4" name="Shape 1"/>
          <p:cNvSpPr/>
          <p:nvPr/>
        </p:nvSpPr>
        <p:spPr>
          <a:xfrm>
            <a:off x="0" y="0"/>
            <a:ext cx="12191695" cy="6858000"/>
          </a:xfrm>
          <a:prstGeom prst="rect">
            <a:avLst/>
          </a:prstGeom>
          <a:solidFill>
            <a:srgbClr val="FF8424"/>
          </a:solidFill>
          <a:ln/>
        </p:spPr>
      </p:sp>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BFAF6"/>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558800"/>
            <a:ext cx="11582110"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000000"/>
                </a:solidFill>
                <a:latin typeface="Red Hat Mono Medium" pitchFamily="34" charset="0"/>
                <a:ea typeface="Red Hat Mono Medium" pitchFamily="34" charset="-122"/>
                <a:cs typeface="Red Hat Mono Medium" pitchFamily="34" charset="-120"/>
              </a:rPr>
              <a:t>CAPSTONE PROJECT JAVA </a:t>
            </a:r>
            <a:endParaRPr lang="en-US" sz="1300" dirty="0"/>
          </a:p>
        </p:txBody>
      </p:sp>
      <p:sp>
        <p:nvSpPr>
          <p:cNvPr id="3" name="Text 1"/>
          <p:cNvSpPr/>
          <p:nvPr/>
        </p:nvSpPr>
        <p:spPr>
          <a:xfrm>
            <a:off x="609585" y="3218855"/>
            <a:ext cx="11074123" cy="1028105"/>
          </a:xfrm>
          <a:prstGeom prst="rect">
            <a:avLst/>
          </a:prstGeom>
          <a:noFill/>
          <a:ln/>
        </p:spPr>
        <p:txBody>
          <a:bodyPr wrap="none" lIns="0" tIns="0" rIns="0" bIns="0" rtlCol="0" anchor="t"/>
          <a:lstStyle/>
          <a:p>
            <a:pPr marL="0" indent="0" algn="l">
              <a:lnSpc>
                <a:spcPct val="77000"/>
              </a:lnSpc>
              <a:buNone/>
            </a:pPr>
            <a:r>
              <a:rPr lang="en-US" sz="8800" dirty="0">
                <a:solidFill>
                  <a:srgbClr val="000000"/>
                </a:solidFill>
                <a:latin typeface="Big Shoulders ExtraBold" pitchFamily="34" charset="0"/>
                <a:ea typeface="Big Shoulders ExtraBold" pitchFamily="34" charset="-122"/>
                <a:cs typeface="Big Shoulders ExtraBold" pitchFamily="34" charset="-120"/>
              </a:rPr>
              <a:t>RENTAL CAR</a:t>
            </a:r>
            <a:endParaRPr lang="en-US" sz="8800" dirty="0"/>
          </a:p>
        </p:txBody>
      </p:sp>
      <p:sp>
        <p:nvSpPr>
          <p:cNvPr id="4" name="Text 2"/>
          <p:cNvSpPr/>
          <p:nvPr/>
        </p:nvSpPr>
        <p:spPr>
          <a:xfrm>
            <a:off x="609585" y="4453334"/>
            <a:ext cx="11074123" cy="1028105"/>
          </a:xfrm>
          <a:prstGeom prst="rect">
            <a:avLst/>
          </a:prstGeom>
          <a:noFill/>
          <a:ln/>
        </p:spPr>
        <p:txBody>
          <a:bodyPr wrap="none" lIns="0" tIns="0" rIns="0" bIns="0" rtlCol="0" anchor="t"/>
          <a:lstStyle/>
          <a:p>
            <a:pPr marL="0" indent="0" algn="l">
              <a:lnSpc>
                <a:spcPct val="77000"/>
              </a:lnSpc>
              <a:buNone/>
            </a:pPr>
            <a:r>
              <a:rPr lang="en-US" sz="8800" dirty="0">
                <a:solidFill>
                  <a:srgbClr val="000000"/>
                </a:solidFill>
                <a:latin typeface="Big Shoulders ExtraBold" pitchFamily="34" charset="0"/>
                <a:ea typeface="Big Shoulders ExtraBold" pitchFamily="34" charset="-122"/>
                <a:cs typeface="Big Shoulders ExtraBold" pitchFamily="34" charset="-120"/>
              </a:rPr>
              <a:t>FLEET MANAGER</a:t>
            </a:r>
            <a:endParaRPr lang="en-US" sz="8800" dirty="0"/>
          </a:p>
        </p:txBody>
      </p:sp>
      <p:sp>
        <p:nvSpPr>
          <p:cNvPr id="5" name="Text 3"/>
          <p:cNvSpPr/>
          <p:nvPr/>
        </p:nvSpPr>
        <p:spPr>
          <a:xfrm>
            <a:off x="609585" y="5710039"/>
            <a:ext cx="11074123" cy="639961"/>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000000"/>
                </a:solidFill>
                <a:latin typeface="Hanken Grotesk" pitchFamily="34" charset="0"/>
                <a:ea typeface="Hanken Grotesk" pitchFamily="34" charset="-122"/>
                <a:cs typeface="Hanken Grotesk" pitchFamily="34" charset="-120"/>
              </a:rPr>
              <a:t>V. Sai Charan (2620040062)</a:t>
            </a:r>
            <a:endParaRPr lang="en-US" sz="1800" dirty="0"/>
          </a:p>
          <a:p>
            <a:pPr marL="0" indent="0" algn="l">
              <a:lnSpc>
                <a:spcPct val="117000"/>
              </a:lnSpc>
              <a:buNone/>
            </a:pPr>
            <a:r>
              <a:rPr lang="en-US" sz="1800" dirty="0">
                <a:solidFill>
                  <a:srgbClr val="000000"/>
                </a:solidFill>
                <a:latin typeface="Hanken Grotesk" pitchFamily="34" charset="0"/>
                <a:ea typeface="Hanken Grotesk" pitchFamily="34" charset="-122"/>
                <a:cs typeface="Hanken Grotesk" pitchFamily="34" charset="-120"/>
              </a:rPr>
              <a:t>V.S.R.V Sathwik (2620040073)</a:t>
            </a:r>
            <a:endParaRPr lang="en-US" sz="1800" dirty="0"/>
          </a:p>
        </p:txBody>
      </p:sp>
      <p:pic>
        <p:nvPicPr>
          <p:cNvPr id="6" name="Image 0" descr="preencoded.png"/>
          <p:cNvPicPr>
            <a:picLocks noChangeAspect="1"/>
          </p:cNvPicPr>
          <p:nvPr/>
        </p:nvPicPr>
        <p:blipFill>
          <a:blip r:embed="rId3"/>
          <a:stretch>
            <a:fillRect/>
          </a:stretch>
        </p:blipFill>
        <p:spPr>
          <a:xfrm>
            <a:off x="11053089" y="0"/>
            <a:ext cx="1138606" cy="4743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807865"/>
          </a:xfrm>
          <a:prstGeom prst="rect">
            <a:avLst/>
          </a:prstGeom>
          <a:solidFill>
            <a:srgbClr val="FF8424"/>
          </a:solidFill>
          <a:ln/>
        </p:spPr>
      </p:sp>
      <p:sp>
        <p:nvSpPr>
          <p:cNvPr id="3" name="Text 1"/>
          <p:cNvSpPr/>
          <p:nvPr/>
        </p:nvSpPr>
        <p:spPr>
          <a:xfrm>
            <a:off x="609585" y="381000"/>
            <a:ext cx="11582110"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000000"/>
                </a:solidFill>
                <a:latin typeface="Red Hat Mono Medium" pitchFamily="34" charset="0"/>
                <a:ea typeface="Red Hat Mono Medium" pitchFamily="34" charset="-122"/>
                <a:cs typeface="Red Hat Mono Medium" pitchFamily="34" charset="-120"/>
              </a:rPr>
              <a:t>ABSTRACT</a:t>
            </a:r>
            <a:endParaRPr lang="en-US" sz="1300" dirty="0"/>
          </a:p>
        </p:txBody>
      </p:sp>
      <p:sp>
        <p:nvSpPr>
          <p:cNvPr id="4" name="Text 2"/>
          <p:cNvSpPr/>
          <p:nvPr/>
        </p:nvSpPr>
        <p:spPr>
          <a:xfrm>
            <a:off x="609585" y="679450"/>
            <a:ext cx="10972526"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000000"/>
                </a:solidFill>
                <a:latin typeface="Hanken Grotesk Bold" pitchFamily="34" charset="0"/>
                <a:ea typeface="Hanken Grotesk Bold" pitchFamily="34" charset="-122"/>
                <a:cs typeface="Hanken Grotesk Bold" pitchFamily="34" charset="-120"/>
              </a:rPr>
              <a:t>A fleet manager connects the whole rental business.</a:t>
            </a:r>
            <a:endParaRPr lang="en-US" sz="2200" dirty="0"/>
          </a:p>
        </p:txBody>
      </p:sp>
      <p:sp>
        <p:nvSpPr>
          <p:cNvPr id="5" name="Text 3"/>
          <p:cNvSpPr/>
          <p:nvPr/>
        </p:nvSpPr>
        <p:spPr>
          <a:xfrm>
            <a:off x="609585" y="2468265"/>
            <a:ext cx="4927477" cy="3932535"/>
          </a:xfrm>
          <a:prstGeom prst="rect">
            <a:avLst/>
          </a:prstGeom>
          <a:noFill/>
          <a:ln/>
        </p:spPr>
        <p:txBody>
          <a:bodyPr wrap="square" lIns="0" tIns="0" rIns="0" bIns="0" rtlCol="0" anchor="t">
            <a:normAutofit/>
          </a:bodyPr>
          <a:lstStyle/>
          <a:p>
            <a:pPr marL="0" indent="0" algn="l">
              <a:lnSpc>
                <a:spcPct val="117000"/>
              </a:lnSpc>
              <a:spcAft>
                <a:spcPts val="1600"/>
              </a:spcAft>
              <a:buNone/>
            </a:pPr>
            <a:r>
              <a:rPr lang="en-US" sz="1800" dirty="0">
                <a:solidFill>
                  <a:srgbClr val="16171D"/>
                </a:solidFill>
                <a:latin typeface="Hanken Grotesk" pitchFamily="34" charset="0"/>
                <a:ea typeface="Hanken Grotesk" pitchFamily="34" charset="-122"/>
                <a:cs typeface="Hanken Grotesk" pitchFamily="34" charset="-120"/>
              </a:rPr>
              <a:t>A Car Rental Fleet Manager is the operational backbone of a rental business, connecting logistics, financial planning, asset management and customer experience.</a:t>
            </a:r>
            <a:endParaRPr lang="en-US" sz="1800" dirty="0"/>
          </a:p>
          <a:p>
            <a:pPr marL="0" indent="0" algn="l">
              <a:lnSpc>
                <a:spcPct val="117000"/>
              </a:lnSpc>
              <a:spcAft>
                <a:spcPts val="1600"/>
              </a:spcAft>
              <a:buNone/>
            </a:pPr>
            <a:r>
              <a:rPr lang="en-US" sz="1800" dirty="0">
                <a:solidFill>
                  <a:srgbClr val="16171D"/>
                </a:solidFill>
                <a:latin typeface="Hanken Grotesk" pitchFamily="34" charset="0"/>
                <a:ea typeface="Hanken Grotesk" pitchFamily="34" charset="-122"/>
                <a:cs typeface="Hanken Grotesk" pitchFamily="34" charset="-120"/>
              </a:rPr>
              <a:t>The manager keeps the fleet optimized, well-maintained, cost-effective and aligned with market demand.</a:t>
            </a:r>
            <a:endParaRPr lang="en-US" sz="1800" dirty="0"/>
          </a:p>
          <a:p>
            <a:pPr marL="0" indent="0" algn="l">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Key responsibilities include fleet procurement and lifecycle management, preventive maintenance, safety, vehicle allocation between branches, financial planning and cost control.</a:t>
            </a:r>
            <a:endParaRPr lang="en-US" sz="1800" dirty="0"/>
          </a:p>
        </p:txBody>
      </p:sp>
      <p:sp>
        <p:nvSpPr>
          <p:cNvPr id="6" name="Text 4"/>
          <p:cNvSpPr/>
          <p:nvPr/>
        </p:nvSpPr>
        <p:spPr>
          <a:xfrm>
            <a:off x="6654634" y="2468265"/>
            <a:ext cx="4927477" cy="1919883"/>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Fleet Management Software and telematics help monitor GPS location, fuel levels, vehicle usage, diagnostics and maintenance records while supporting compliance with registration, insurance, emissions and transport requirements.</a:t>
            </a:r>
            <a:endParaRPr lang="en-US" sz="1800" dirty="0"/>
          </a:p>
        </p:txBody>
      </p:sp>
      <p:sp>
        <p:nvSpPr>
          <p:cNvPr id="7" name="Text 5"/>
          <p:cNvSpPr/>
          <p:nvPr/>
        </p:nvSpPr>
        <p:spPr>
          <a:xfrm>
            <a:off x="6654634" y="4781848"/>
            <a:ext cx="4927477" cy="642541"/>
          </a:xfrm>
          <a:prstGeom prst="rect">
            <a:avLst/>
          </a:prstGeom>
          <a:noFill/>
          <a:ln/>
        </p:spPr>
        <p:txBody>
          <a:bodyPr wrap="square" lIns="0" tIns="0" rIns="0" bIns="0" rtlCol="0" anchor="t">
            <a:normAutofit/>
          </a:bodyPr>
          <a:lstStyle/>
          <a:p>
            <a:pPr marL="0" indent="0" algn="l">
              <a:lnSpc>
                <a:spcPct val="96000"/>
              </a:lnSpc>
              <a:buNone/>
            </a:pPr>
            <a:r>
              <a:rPr lang="en-US" sz="2200" b="1" kern="100" spc="-11" dirty="0">
                <a:solidFill>
                  <a:srgbClr val="16171D"/>
                </a:solidFill>
                <a:latin typeface="Hanken Grotesk Bold" pitchFamily="34" charset="0"/>
                <a:ea typeface="Hanken Grotesk Bold" pitchFamily="34" charset="-122"/>
                <a:cs typeface="Hanken Grotesk Bold" pitchFamily="34" charset="-120"/>
              </a:rPr>
              <a:t>Smart asset management turns vehicle inventory into a profitable service.</a:t>
            </a:r>
            <a:endParaRPr lang="en-US" sz="2200" dirty="0"/>
          </a:p>
        </p:txBody>
      </p:sp>
      <p:pic>
        <p:nvPicPr>
          <p:cNvPr id="8" name="Image 0" descr="preencoded.png"/>
          <p:cNvPicPr>
            <a:picLocks noChangeAspect="1"/>
          </p:cNvPicPr>
          <p:nvPr/>
        </p:nvPicPr>
        <p:blipFill>
          <a:blip r:embed="rId3"/>
          <a:stretch>
            <a:fillRect/>
          </a:stretch>
        </p:blipFill>
        <p:spPr>
          <a:xfrm>
            <a:off x="10800187" y="228600"/>
            <a:ext cx="1162815" cy="4844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06390" y="228600"/>
            <a:ext cx="11785305" cy="166687"/>
          </a:xfrm>
          <a:prstGeom prst="rect">
            <a:avLst/>
          </a:prstGeom>
          <a:noFill/>
          <a:ln/>
        </p:spPr>
        <p:txBody>
          <a:bodyPr wrap="none" lIns="0" tIns="0" rIns="0" bIns="0" rtlCol="0" anchor="t"/>
          <a:lstStyle/>
          <a:p>
            <a:pPr marL="0" indent="0" algn="l">
              <a:lnSpc>
                <a:spcPct val="104000"/>
              </a:lnSpc>
              <a:buNone/>
            </a:pPr>
            <a:r>
              <a:rPr lang="en-US" sz="1050" kern="100" spc="10" dirty="0">
                <a:solidFill>
                  <a:srgbClr val="16171D"/>
                </a:solidFill>
                <a:latin typeface="Red Hat Mono Medium" pitchFamily="34" charset="0"/>
                <a:ea typeface="Red Hat Mono Medium" pitchFamily="34" charset="-122"/>
                <a:cs typeface="Red Hat Mono Medium" pitchFamily="34" charset="-120"/>
              </a:rPr>
              <a:t>REAL-WORLD CONTEXT · JAVA RENTAL MANAGEMENT</a:t>
            </a:r>
            <a:endParaRPr lang="en-US" sz="1050" dirty="0"/>
          </a:p>
        </p:txBody>
      </p:sp>
      <p:sp>
        <p:nvSpPr>
          <p:cNvPr id="3" name="Text 1"/>
          <p:cNvSpPr/>
          <p:nvPr/>
        </p:nvSpPr>
        <p:spPr>
          <a:xfrm>
            <a:off x="406390" y="455315"/>
            <a:ext cx="11378915" cy="467519"/>
          </a:xfrm>
          <a:prstGeom prst="rect">
            <a:avLst/>
          </a:prstGeom>
          <a:noFill/>
          <a:ln/>
        </p:spPr>
        <p:txBody>
          <a:bodyPr wrap="none" lIns="0" tIns="0" rIns="0" bIns="0" rtlCol="0" anchor="t"/>
          <a:lstStyle/>
          <a:p>
            <a:pPr marL="0" indent="0" algn="l">
              <a:lnSpc>
                <a:spcPct val="79000"/>
              </a:lnSpc>
              <a:buNone/>
            </a:pPr>
            <a:r>
              <a:rPr lang="en-US" sz="3900" kern="100" spc="19" dirty="0">
                <a:solidFill>
                  <a:srgbClr val="16171D"/>
                </a:solidFill>
                <a:latin typeface="Big Shoulders ExtraBold" pitchFamily="34" charset="0"/>
                <a:ea typeface="Big Shoulders ExtraBold" pitchFamily="34" charset="-122"/>
                <a:cs typeface="Big Shoulders ExtraBold" pitchFamily="34" charset="-120"/>
              </a:rPr>
              <a:t>END-TO-END LIFECYCLE OF A RENTAL CAR</a:t>
            </a:r>
            <a:endParaRPr lang="en-US" sz="3900" dirty="0"/>
          </a:p>
        </p:txBody>
      </p:sp>
      <p:sp>
        <p:nvSpPr>
          <p:cNvPr id="4" name="Text 2"/>
          <p:cNvSpPr/>
          <p:nvPr/>
        </p:nvSpPr>
        <p:spPr>
          <a:xfrm>
            <a:off x="406390" y="1071860"/>
            <a:ext cx="11785305" cy="233462"/>
          </a:xfrm>
          <a:prstGeom prst="rect">
            <a:avLst/>
          </a:prstGeom>
          <a:noFill/>
          <a:ln/>
        </p:spPr>
        <p:txBody>
          <a:bodyPr wrap="none" lIns="0" tIns="0" rIns="0" bIns="0" rtlCol="0" anchor="t"/>
          <a:lstStyle/>
          <a:p>
            <a:pPr marL="0" indent="0" algn="l">
              <a:lnSpc>
                <a:spcPct val="105000"/>
              </a:lnSpc>
              <a:buNone/>
            </a:pPr>
            <a:r>
              <a:rPr lang="en-US" sz="1450" dirty="0">
                <a:solidFill>
                  <a:srgbClr val="16171D"/>
                </a:solidFill>
                <a:latin typeface="Hanken Grotesk" pitchFamily="34" charset="0"/>
                <a:ea typeface="Hanken Grotesk" pitchFamily="34" charset="-122"/>
                <a:cs typeface="Hanken Grotesk" pitchFamily="34" charset="-120"/>
              </a:rPr>
              <a:t>The full vehicle journey, with our Java project focused on the rental loop.</a:t>
            </a:r>
            <a:endParaRPr lang="en-US" sz="1450" dirty="0"/>
          </a:p>
        </p:txBody>
      </p:sp>
      <p:pic>
        <p:nvPicPr>
          <p:cNvPr id="5" name="Image 0" descr="preencoded.png"/>
          <p:cNvPicPr>
            <a:picLocks noChangeAspect="1"/>
          </p:cNvPicPr>
          <p:nvPr/>
        </p:nvPicPr>
        <p:blipFill>
          <a:blip r:embed="rId3"/>
          <a:stretch>
            <a:fillRect/>
          </a:stretch>
        </p:blipFill>
        <p:spPr>
          <a:xfrm>
            <a:off x="406390" y="1439863"/>
            <a:ext cx="461356" cy="461367"/>
          </a:xfrm>
          <a:prstGeom prst="rect">
            <a:avLst/>
          </a:prstGeom>
        </p:spPr>
      </p:pic>
      <p:sp>
        <p:nvSpPr>
          <p:cNvPr id="6" name="Text 3"/>
          <p:cNvSpPr/>
          <p:nvPr/>
        </p:nvSpPr>
        <p:spPr>
          <a:xfrm>
            <a:off x="406390" y="2035770"/>
            <a:ext cx="3245959" cy="224036"/>
          </a:xfrm>
          <a:prstGeom prst="rect">
            <a:avLst/>
          </a:prstGeom>
          <a:noFill/>
          <a:ln/>
        </p:spPr>
        <p:txBody>
          <a:bodyPr wrap="none" lIns="0" tIns="0" rIns="0" bIns="0" rtlCol="0" anchor="t"/>
          <a:lstStyle/>
          <a:p>
            <a:pPr marL="0" indent="0" algn="l">
              <a:lnSpc>
                <a:spcPct val="96000"/>
              </a:lnSpc>
              <a:buNone/>
            </a:pPr>
            <a:r>
              <a:rPr lang="en-US" sz="1550" b="1" kern="100" spc="-8" dirty="0">
                <a:solidFill>
                  <a:srgbClr val="16171D"/>
                </a:solidFill>
                <a:latin typeface="Hanken Grotesk Bold" pitchFamily="34" charset="0"/>
                <a:ea typeface="Hanken Grotesk Bold" pitchFamily="34" charset="-122"/>
                <a:cs typeface="Hanken Grotesk Bold" pitchFamily="34" charset="-120"/>
              </a:rPr>
              <a:t>Vehicle acquisition</a:t>
            </a:r>
            <a:endParaRPr lang="en-US" sz="1550" dirty="0"/>
          </a:p>
        </p:txBody>
      </p:sp>
      <p:sp>
        <p:nvSpPr>
          <p:cNvPr id="7" name="Text 4"/>
          <p:cNvSpPr/>
          <p:nvPr/>
        </p:nvSpPr>
        <p:spPr>
          <a:xfrm>
            <a:off x="406390" y="2367359"/>
            <a:ext cx="3245959" cy="233462"/>
          </a:xfrm>
          <a:prstGeom prst="rect">
            <a:avLst/>
          </a:prstGeom>
          <a:noFill/>
          <a:ln/>
        </p:spPr>
        <p:txBody>
          <a:bodyPr wrap="none" lIns="0" tIns="0" rIns="0" bIns="0" rtlCol="0" anchor="t"/>
          <a:lstStyle/>
          <a:p>
            <a:pPr marL="0" indent="0" algn="l">
              <a:lnSpc>
                <a:spcPct val="105000"/>
              </a:lnSpc>
              <a:buNone/>
            </a:pPr>
            <a:r>
              <a:rPr lang="en-US" sz="1450" dirty="0">
                <a:solidFill>
                  <a:srgbClr val="16171D"/>
                </a:solidFill>
                <a:latin typeface="Hanken Grotesk" pitchFamily="34" charset="0"/>
                <a:ea typeface="Hanken Grotesk" pitchFamily="34" charset="-122"/>
                <a:cs typeface="Hanken Grotesk" pitchFamily="34" charset="-120"/>
              </a:rPr>
              <a:t>Purchase or lease enters the fleet.</a:t>
            </a:r>
            <a:endParaRPr lang="en-US" sz="1450" dirty="0"/>
          </a:p>
        </p:txBody>
      </p:sp>
      <p:pic>
        <p:nvPicPr>
          <p:cNvPr id="8" name="Image 1" descr="preencoded.png"/>
          <p:cNvPicPr>
            <a:picLocks noChangeAspect="1"/>
          </p:cNvPicPr>
          <p:nvPr/>
        </p:nvPicPr>
        <p:blipFill>
          <a:blip r:embed="rId4"/>
          <a:stretch>
            <a:fillRect/>
          </a:stretch>
        </p:blipFill>
        <p:spPr>
          <a:xfrm>
            <a:off x="3804745" y="1439863"/>
            <a:ext cx="461356" cy="461367"/>
          </a:xfrm>
          <a:prstGeom prst="rect">
            <a:avLst/>
          </a:prstGeom>
        </p:spPr>
      </p:pic>
      <p:sp>
        <p:nvSpPr>
          <p:cNvPr id="9" name="Text 5"/>
          <p:cNvSpPr/>
          <p:nvPr/>
        </p:nvSpPr>
        <p:spPr>
          <a:xfrm>
            <a:off x="3804745" y="2035770"/>
            <a:ext cx="3246059" cy="224036"/>
          </a:xfrm>
          <a:prstGeom prst="rect">
            <a:avLst/>
          </a:prstGeom>
          <a:noFill/>
          <a:ln/>
        </p:spPr>
        <p:txBody>
          <a:bodyPr wrap="none" lIns="0" tIns="0" rIns="0" bIns="0" rtlCol="0" anchor="t"/>
          <a:lstStyle/>
          <a:p>
            <a:pPr marL="0" indent="0" algn="l">
              <a:lnSpc>
                <a:spcPct val="96000"/>
              </a:lnSpc>
              <a:buNone/>
            </a:pPr>
            <a:r>
              <a:rPr lang="en-US" sz="1550" b="1" kern="100" spc="-8" dirty="0">
                <a:solidFill>
                  <a:srgbClr val="16171D"/>
                </a:solidFill>
                <a:latin typeface="Hanken Grotesk Bold" pitchFamily="34" charset="0"/>
                <a:ea typeface="Hanken Grotesk Bold" pitchFamily="34" charset="-122"/>
                <a:cs typeface="Hanken Grotesk Bold" pitchFamily="34" charset="-120"/>
              </a:rPr>
              <a:t>Maintenance &amp; inspection</a:t>
            </a:r>
            <a:endParaRPr lang="en-US" sz="1550" dirty="0"/>
          </a:p>
        </p:txBody>
      </p:sp>
      <p:sp>
        <p:nvSpPr>
          <p:cNvPr id="10" name="Text 6"/>
          <p:cNvSpPr/>
          <p:nvPr/>
        </p:nvSpPr>
        <p:spPr>
          <a:xfrm>
            <a:off x="3804745" y="2367359"/>
            <a:ext cx="3246059" cy="233462"/>
          </a:xfrm>
          <a:prstGeom prst="rect">
            <a:avLst/>
          </a:prstGeom>
          <a:noFill/>
          <a:ln/>
        </p:spPr>
        <p:txBody>
          <a:bodyPr wrap="none" lIns="0" tIns="0" rIns="0" bIns="0" rtlCol="0" anchor="t"/>
          <a:lstStyle/>
          <a:p>
            <a:pPr marL="0" indent="0" algn="l">
              <a:lnSpc>
                <a:spcPct val="105000"/>
              </a:lnSpc>
              <a:buNone/>
            </a:pPr>
            <a:r>
              <a:rPr lang="en-US" sz="1450" dirty="0">
                <a:solidFill>
                  <a:srgbClr val="16171D"/>
                </a:solidFill>
                <a:latin typeface="Hanken Grotesk" pitchFamily="34" charset="0"/>
                <a:ea typeface="Hanken Grotesk" pitchFamily="34" charset="-122"/>
                <a:cs typeface="Hanken Grotesk" pitchFamily="34" charset="-120"/>
              </a:rPr>
              <a:t>Service and check roadworthiness.</a:t>
            </a:r>
            <a:endParaRPr lang="en-US" sz="1450" dirty="0"/>
          </a:p>
        </p:txBody>
      </p:sp>
      <p:pic>
        <p:nvPicPr>
          <p:cNvPr id="11" name="Image 2" descr="preencoded.png"/>
          <p:cNvPicPr>
            <a:picLocks noChangeAspect="1"/>
          </p:cNvPicPr>
          <p:nvPr/>
        </p:nvPicPr>
        <p:blipFill>
          <a:blip r:embed="rId5"/>
          <a:stretch>
            <a:fillRect/>
          </a:stretch>
        </p:blipFill>
        <p:spPr>
          <a:xfrm>
            <a:off x="406390" y="2753221"/>
            <a:ext cx="461356" cy="461367"/>
          </a:xfrm>
          <a:prstGeom prst="rect">
            <a:avLst/>
          </a:prstGeom>
        </p:spPr>
      </p:pic>
      <p:sp>
        <p:nvSpPr>
          <p:cNvPr id="12" name="Text 7"/>
          <p:cNvSpPr/>
          <p:nvPr/>
        </p:nvSpPr>
        <p:spPr>
          <a:xfrm>
            <a:off x="406390" y="3349129"/>
            <a:ext cx="3245959" cy="224036"/>
          </a:xfrm>
          <a:prstGeom prst="rect">
            <a:avLst/>
          </a:prstGeom>
          <a:noFill/>
          <a:ln/>
        </p:spPr>
        <p:txBody>
          <a:bodyPr wrap="none" lIns="0" tIns="0" rIns="0" bIns="0" rtlCol="0" anchor="t"/>
          <a:lstStyle/>
          <a:p>
            <a:pPr marL="0" indent="0" algn="l">
              <a:lnSpc>
                <a:spcPct val="96000"/>
              </a:lnSpc>
              <a:buNone/>
            </a:pPr>
            <a:r>
              <a:rPr lang="en-US" sz="1550" b="1" kern="100" spc="-8" dirty="0">
                <a:solidFill>
                  <a:srgbClr val="16171D"/>
                </a:solidFill>
                <a:latin typeface="Hanken Grotesk Bold" pitchFamily="34" charset="0"/>
                <a:ea typeface="Hanken Grotesk Bold" pitchFamily="34" charset="-122"/>
                <a:cs typeface="Hanken Grotesk Bold" pitchFamily="34" charset="-120"/>
              </a:rPr>
              <a:t>Available for rental</a:t>
            </a:r>
            <a:endParaRPr lang="en-US" sz="1550" dirty="0"/>
          </a:p>
        </p:txBody>
      </p:sp>
      <p:sp>
        <p:nvSpPr>
          <p:cNvPr id="13" name="Text 8"/>
          <p:cNvSpPr/>
          <p:nvPr/>
        </p:nvSpPr>
        <p:spPr>
          <a:xfrm>
            <a:off x="406390" y="3680718"/>
            <a:ext cx="3245959" cy="233462"/>
          </a:xfrm>
          <a:prstGeom prst="rect">
            <a:avLst/>
          </a:prstGeom>
          <a:noFill/>
          <a:ln/>
        </p:spPr>
        <p:txBody>
          <a:bodyPr wrap="none" lIns="0" tIns="0" rIns="0" bIns="0" rtlCol="0" anchor="t"/>
          <a:lstStyle/>
          <a:p>
            <a:pPr marL="0" indent="0" algn="l">
              <a:lnSpc>
                <a:spcPct val="105000"/>
              </a:lnSpc>
              <a:buNone/>
            </a:pPr>
            <a:r>
              <a:rPr lang="en-US" sz="1450" dirty="0">
                <a:solidFill>
                  <a:srgbClr val="16171D"/>
                </a:solidFill>
                <a:latin typeface="Hanken Grotesk" pitchFamily="34" charset="0"/>
                <a:ea typeface="Hanken Grotesk" pitchFamily="34" charset="-122"/>
                <a:cs typeface="Hanken Grotesk" pitchFamily="34" charset="-120"/>
              </a:rPr>
              <a:t>Ready cars are listed for customers.</a:t>
            </a:r>
            <a:endParaRPr lang="en-US" sz="1450" dirty="0"/>
          </a:p>
        </p:txBody>
      </p:sp>
      <p:pic>
        <p:nvPicPr>
          <p:cNvPr id="14" name="Image 3" descr="preencoded.png"/>
          <p:cNvPicPr>
            <a:picLocks noChangeAspect="1"/>
          </p:cNvPicPr>
          <p:nvPr/>
        </p:nvPicPr>
        <p:blipFill>
          <a:blip r:embed="rId6"/>
          <a:stretch>
            <a:fillRect/>
          </a:stretch>
        </p:blipFill>
        <p:spPr>
          <a:xfrm>
            <a:off x="3804745" y="2753221"/>
            <a:ext cx="461356" cy="461367"/>
          </a:xfrm>
          <a:prstGeom prst="rect">
            <a:avLst/>
          </a:prstGeom>
        </p:spPr>
      </p:pic>
      <p:sp>
        <p:nvSpPr>
          <p:cNvPr id="15" name="Text 9"/>
          <p:cNvSpPr/>
          <p:nvPr/>
        </p:nvSpPr>
        <p:spPr>
          <a:xfrm>
            <a:off x="3804745" y="3349129"/>
            <a:ext cx="3246059" cy="224036"/>
          </a:xfrm>
          <a:prstGeom prst="rect">
            <a:avLst/>
          </a:prstGeom>
          <a:noFill/>
          <a:ln/>
        </p:spPr>
        <p:txBody>
          <a:bodyPr wrap="none" lIns="0" tIns="0" rIns="0" bIns="0" rtlCol="0" anchor="t"/>
          <a:lstStyle/>
          <a:p>
            <a:pPr marL="0" indent="0" algn="l">
              <a:lnSpc>
                <a:spcPct val="96000"/>
              </a:lnSpc>
              <a:buNone/>
            </a:pPr>
            <a:r>
              <a:rPr lang="en-US" sz="1550" b="1" kern="100" spc="-8" dirty="0">
                <a:solidFill>
                  <a:srgbClr val="16171D"/>
                </a:solidFill>
                <a:latin typeface="Hanken Grotesk Bold" pitchFamily="34" charset="0"/>
                <a:ea typeface="Hanken Grotesk Bold" pitchFamily="34" charset="-122"/>
                <a:cs typeface="Hanken Grotesk Bold" pitchFamily="34" charset="-120"/>
              </a:rPr>
              <a:t>Customer rental</a:t>
            </a:r>
            <a:endParaRPr lang="en-US" sz="1550" dirty="0"/>
          </a:p>
        </p:txBody>
      </p:sp>
      <p:sp>
        <p:nvSpPr>
          <p:cNvPr id="16" name="Text 10"/>
          <p:cNvSpPr/>
          <p:nvPr/>
        </p:nvSpPr>
        <p:spPr>
          <a:xfrm>
            <a:off x="3804745" y="3680718"/>
            <a:ext cx="3246059" cy="233462"/>
          </a:xfrm>
          <a:prstGeom prst="rect">
            <a:avLst/>
          </a:prstGeom>
          <a:noFill/>
          <a:ln/>
        </p:spPr>
        <p:txBody>
          <a:bodyPr wrap="none" lIns="0" tIns="0" rIns="0" bIns="0" rtlCol="0" anchor="t"/>
          <a:lstStyle/>
          <a:p>
            <a:pPr marL="0" indent="0" algn="l">
              <a:lnSpc>
                <a:spcPct val="105000"/>
              </a:lnSpc>
              <a:buNone/>
            </a:pPr>
            <a:r>
              <a:rPr lang="en-US" sz="1450" dirty="0">
                <a:solidFill>
                  <a:srgbClr val="16171D"/>
                </a:solidFill>
                <a:latin typeface="Hanken Grotesk" pitchFamily="34" charset="0"/>
                <a:ea typeface="Hanken Grotesk" pitchFamily="34" charset="-122"/>
                <a:cs typeface="Hanken Grotesk" pitchFamily="34" charset="-120"/>
              </a:rPr>
              <a:t>Search, check availability, and rent.</a:t>
            </a:r>
            <a:endParaRPr lang="en-US" sz="1450" dirty="0"/>
          </a:p>
        </p:txBody>
      </p:sp>
      <p:pic>
        <p:nvPicPr>
          <p:cNvPr id="17" name="Image 4" descr="preencoded.png"/>
          <p:cNvPicPr>
            <a:picLocks noChangeAspect="1"/>
          </p:cNvPicPr>
          <p:nvPr/>
        </p:nvPicPr>
        <p:blipFill>
          <a:blip r:embed="rId7"/>
          <a:stretch>
            <a:fillRect/>
          </a:stretch>
        </p:blipFill>
        <p:spPr>
          <a:xfrm>
            <a:off x="406390" y="4066580"/>
            <a:ext cx="461356" cy="461367"/>
          </a:xfrm>
          <a:prstGeom prst="rect">
            <a:avLst/>
          </a:prstGeom>
        </p:spPr>
      </p:pic>
      <p:sp>
        <p:nvSpPr>
          <p:cNvPr id="18" name="Text 11"/>
          <p:cNvSpPr/>
          <p:nvPr/>
        </p:nvSpPr>
        <p:spPr>
          <a:xfrm>
            <a:off x="406390" y="4662488"/>
            <a:ext cx="3245959" cy="224036"/>
          </a:xfrm>
          <a:prstGeom prst="rect">
            <a:avLst/>
          </a:prstGeom>
          <a:noFill/>
          <a:ln/>
        </p:spPr>
        <p:txBody>
          <a:bodyPr wrap="none" lIns="0" tIns="0" rIns="0" bIns="0" rtlCol="0" anchor="t"/>
          <a:lstStyle/>
          <a:p>
            <a:pPr marL="0" indent="0" algn="l">
              <a:lnSpc>
                <a:spcPct val="96000"/>
              </a:lnSpc>
              <a:buNone/>
            </a:pPr>
            <a:r>
              <a:rPr lang="en-US" sz="1550" b="1" kern="100" spc="-8" dirty="0">
                <a:solidFill>
                  <a:srgbClr val="16171D"/>
                </a:solidFill>
                <a:latin typeface="Hanken Grotesk Bold" pitchFamily="34" charset="0"/>
                <a:ea typeface="Hanken Grotesk Bold" pitchFamily="34" charset="-122"/>
                <a:cs typeface="Hanken Grotesk Bold" pitchFamily="34" charset="-120"/>
              </a:rPr>
              <a:t>Vehicle return</a:t>
            </a:r>
            <a:endParaRPr lang="en-US" sz="1550" dirty="0"/>
          </a:p>
        </p:txBody>
      </p:sp>
      <p:sp>
        <p:nvSpPr>
          <p:cNvPr id="19" name="Text 12"/>
          <p:cNvSpPr/>
          <p:nvPr/>
        </p:nvSpPr>
        <p:spPr>
          <a:xfrm>
            <a:off x="406390" y="4994077"/>
            <a:ext cx="3245959" cy="233462"/>
          </a:xfrm>
          <a:prstGeom prst="rect">
            <a:avLst/>
          </a:prstGeom>
          <a:noFill/>
          <a:ln/>
        </p:spPr>
        <p:txBody>
          <a:bodyPr wrap="none" lIns="0" tIns="0" rIns="0" bIns="0" rtlCol="0" anchor="t"/>
          <a:lstStyle/>
          <a:p>
            <a:pPr marL="0" indent="0" algn="l">
              <a:lnSpc>
                <a:spcPct val="105000"/>
              </a:lnSpc>
              <a:buNone/>
            </a:pPr>
            <a:r>
              <a:rPr lang="en-US" sz="1450" dirty="0">
                <a:solidFill>
                  <a:srgbClr val="16171D"/>
                </a:solidFill>
                <a:latin typeface="Hanken Grotesk" pitchFamily="34" charset="0"/>
                <a:ea typeface="Hanken Grotesk" pitchFamily="34" charset="-122"/>
                <a:cs typeface="Hanken Grotesk" pitchFamily="34" charset="-120"/>
              </a:rPr>
              <a:t>Record the car coming back.</a:t>
            </a:r>
            <a:endParaRPr lang="en-US" sz="1450" dirty="0"/>
          </a:p>
        </p:txBody>
      </p:sp>
      <p:pic>
        <p:nvPicPr>
          <p:cNvPr id="20" name="Image 5" descr="preencoded.png"/>
          <p:cNvPicPr>
            <a:picLocks noChangeAspect="1"/>
          </p:cNvPicPr>
          <p:nvPr/>
        </p:nvPicPr>
        <p:blipFill>
          <a:blip r:embed="rId4"/>
          <a:stretch>
            <a:fillRect/>
          </a:stretch>
        </p:blipFill>
        <p:spPr>
          <a:xfrm>
            <a:off x="3804745" y="4066580"/>
            <a:ext cx="461356" cy="461367"/>
          </a:xfrm>
          <a:prstGeom prst="rect">
            <a:avLst/>
          </a:prstGeom>
        </p:spPr>
      </p:pic>
      <p:sp>
        <p:nvSpPr>
          <p:cNvPr id="21" name="Text 13"/>
          <p:cNvSpPr/>
          <p:nvPr/>
        </p:nvSpPr>
        <p:spPr>
          <a:xfrm>
            <a:off x="3804745" y="4662488"/>
            <a:ext cx="3246059" cy="224036"/>
          </a:xfrm>
          <a:prstGeom prst="rect">
            <a:avLst/>
          </a:prstGeom>
          <a:noFill/>
          <a:ln/>
        </p:spPr>
        <p:txBody>
          <a:bodyPr wrap="none" lIns="0" tIns="0" rIns="0" bIns="0" rtlCol="0" anchor="t"/>
          <a:lstStyle/>
          <a:p>
            <a:pPr marL="0" indent="0" algn="l">
              <a:lnSpc>
                <a:spcPct val="96000"/>
              </a:lnSpc>
              <a:buNone/>
            </a:pPr>
            <a:r>
              <a:rPr lang="en-US" sz="1550" b="1" kern="100" spc="-8" dirty="0">
                <a:solidFill>
                  <a:srgbClr val="16171D"/>
                </a:solidFill>
                <a:latin typeface="Hanken Grotesk Bold" pitchFamily="34" charset="0"/>
                <a:ea typeface="Hanken Grotesk Bold" pitchFamily="34" charset="-122"/>
                <a:cs typeface="Hanken Grotesk Bold" pitchFamily="34" charset="-120"/>
              </a:rPr>
              <a:t>Inspect / maintain</a:t>
            </a:r>
            <a:endParaRPr lang="en-US" sz="1550" dirty="0"/>
          </a:p>
        </p:txBody>
      </p:sp>
      <p:sp>
        <p:nvSpPr>
          <p:cNvPr id="22" name="Text 14"/>
          <p:cNvSpPr/>
          <p:nvPr/>
        </p:nvSpPr>
        <p:spPr>
          <a:xfrm>
            <a:off x="3804745" y="4994077"/>
            <a:ext cx="3246059" cy="233462"/>
          </a:xfrm>
          <a:prstGeom prst="rect">
            <a:avLst/>
          </a:prstGeom>
          <a:noFill/>
          <a:ln/>
        </p:spPr>
        <p:txBody>
          <a:bodyPr wrap="none" lIns="0" tIns="0" rIns="0" bIns="0" rtlCol="0" anchor="t"/>
          <a:lstStyle/>
          <a:p>
            <a:pPr marL="0" indent="0" algn="l">
              <a:lnSpc>
                <a:spcPct val="105000"/>
              </a:lnSpc>
              <a:buNone/>
            </a:pPr>
            <a:r>
              <a:rPr lang="en-US" sz="1450" dirty="0">
                <a:solidFill>
                  <a:srgbClr val="16171D"/>
                </a:solidFill>
                <a:latin typeface="Hanken Grotesk" pitchFamily="34" charset="0"/>
                <a:ea typeface="Hanken Grotesk" pitchFamily="34" charset="-122"/>
                <a:cs typeface="Hanken Grotesk" pitchFamily="34" charset="-120"/>
              </a:rPr>
              <a:t>Check condition before the next use.</a:t>
            </a:r>
            <a:endParaRPr lang="en-US" sz="1450" dirty="0"/>
          </a:p>
        </p:txBody>
      </p:sp>
      <p:pic>
        <p:nvPicPr>
          <p:cNvPr id="23" name="Image 6" descr="preencoded.png"/>
          <p:cNvPicPr>
            <a:picLocks noChangeAspect="1"/>
          </p:cNvPicPr>
          <p:nvPr/>
        </p:nvPicPr>
        <p:blipFill>
          <a:blip r:embed="rId5"/>
          <a:stretch>
            <a:fillRect/>
          </a:stretch>
        </p:blipFill>
        <p:spPr>
          <a:xfrm>
            <a:off x="406390" y="5379938"/>
            <a:ext cx="461356" cy="461367"/>
          </a:xfrm>
          <a:prstGeom prst="rect">
            <a:avLst/>
          </a:prstGeom>
        </p:spPr>
      </p:pic>
      <p:sp>
        <p:nvSpPr>
          <p:cNvPr id="24" name="Text 15"/>
          <p:cNvSpPr/>
          <p:nvPr/>
        </p:nvSpPr>
        <p:spPr>
          <a:xfrm>
            <a:off x="406390" y="5975846"/>
            <a:ext cx="6644414" cy="224036"/>
          </a:xfrm>
          <a:prstGeom prst="rect">
            <a:avLst/>
          </a:prstGeom>
          <a:noFill/>
          <a:ln/>
        </p:spPr>
        <p:txBody>
          <a:bodyPr wrap="none" lIns="0" tIns="0" rIns="0" bIns="0" rtlCol="0" anchor="t"/>
          <a:lstStyle/>
          <a:p>
            <a:pPr marL="0" indent="0" algn="l">
              <a:lnSpc>
                <a:spcPct val="96000"/>
              </a:lnSpc>
              <a:buNone/>
            </a:pPr>
            <a:r>
              <a:rPr lang="en-US" sz="1550" b="1" kern="100" spc="-8" dirty="0">
                <a:solidFill>
                  <a:srgbClr val="16171D"/>
                </a:solidFill>
                <a:latin typeface="Hanken Grotesk Bold" pitchFamily="34" charset="0"/>
                <a:ea typeface="Hanken Grotesk Bold" pitchFamily="34" charset="-122"/>
                <a:cs typeface="Hanken Grotesk Bold" pitchFamily="34" charset="-120"/>
              </a:rPr>
              <a:t>Next rental or end of life</a:t>
            </a:r>
            <a:endParaRPr lang="en-US" sz="1550" dirty="0"/>
          </a:p>
        </p:txBody>
      </p:sp>
      <p:sp>
        <p:nvSpPr>
          <p:cNvPr id="25" name="Shape 16"/>
          <p:cNvSpPr/>
          <p:nvPr/>
        </p:nvSpPr>
        <p:spPr>
          <a:xfrm>
            <a:off x="7355497" y="1439863"/>
            <a:ext cx="4429709" cy="5101034"/>
          </a:xfrm>
          <a:prstGeom prst="rect">
            <a:avLst/>
          </a:prstGeom>
          <a:solidFill>
            <a:srgbClr val="EFEDE6"/>
          </a:solidFill>
          <a:ln/>
        </p:spPr>
      </p:sp>
      <p:sp>
        <p:nvSpPr>
          <p:cNvPr id="26" name="Text 17"/>
          <p:cNvSpPr/>
          <p:nvPr/>
        </p:nvSpPr>
        <p:spPr>
          <a:xfrm>
            <a:off x="7584092" y="1617662"/>
            <a:ext cx="3972520" cy="224036"/>
          </a:xfrm>
          <a:prstGeom prst="rect">
            <a:avLst/>
          </a:prstGeom>
          <a:noFill/>
          <a:ln/>
        </p:spPr>
        <p:txBody>
          <a:bodyPr wrap="none" lIns="0" tIns="0" rIns="0" bIns="0" rtlCol="0" anchor="t"/>
          <a:lstStyle/>
          <a:p>
            <a:pPr marL="0" indent="0" algn="l">
              <a:lnSpc>
                <a:spcPct val="96000"/>
              </a:lnSpc>
              <a:buNone/>
            </a:pPr>
            <a:r>
              <a:rPr lang="en-US" sz="1550" b="1" kern="100" spc="-8" dirty="0">
                <a:solidFill>
                  <a:srgbClr val="16171D"/>
                </a:solidFill>
                <a:latin typeface="Hanken Grotesk Bold" pitchFamily="34" charset="0"/>
                <a:ea typeface="Hanken Grotesk Bold" pitchFamily="34" charset="-122"/>
                <a:cs typeface="Hanken Grotesk Bold" pitchFamily="34" charset="-120"/>
              </a:rPr>
              <a:t>Java project scope: rental management</a:t>
            </a:r>
            <a:endParaRPr lang="en-US" sz="1550" dirty="0"/>
          </a:p>
        </p:txBody>
      </p:sp>
      <p:sp>
        <p:nvSpPr>
          <p:cNvPr id="27" name="Text 18"/>
          <p:cNvSpPr/>
          <p:nvPr/>
        </p:nvSpPr>
        <p:spPr>
          <a:xfrm>
            <a:off x="7584092" y="1949252"/>
            <a:ext cx="3972520" cy="466923"/>
          </a:xfrm>
          <a:prstGeom prst="rect">
            <a:avLst/>
          </a:prstGeom>
          <a:noFill/>
          <a:ln/>
        </p:spPr>
        <p:txBody>
          <a:bodyPr wrap="square" lIns="0" tIns="0" rIns="0" bIns="0" rtlCol="0" anchor="t">
            <a:normAutofit/>
          </a:bodyPr>
          <a:lstStyle/>
          <a:p>
            <a:pPr marL="0" indent="0" algn="l">
              <a:lnSpc>
                <a:spcPct val="105000"/>
              </a:lnSpc>
              <a:buNone/>
            </a:pPr>
            <a:r>
              <a:rPr lang="en-US" sz="1450" dirty="0">
                <a:solidFill>
                  <a:srgbClr val="16171D"/>
                </a:solidFill>
                <a:latin typeface="Hanken Grotesk" pitchFamily="34" charset="0"/>
                <a:ea typeface="Hanken Grotesk" pitchFamily="34" charset="-122"/>
                <a:cs typeface="Hanken Grotesk" pitchFamily="34" charset="-120"/>
              </a:rPr>
              <a:t>Search cars, check availability, rent a car, return it, and calculate rental cost.</a:t>
            </a:r>
            <a:endParaRPr lang="en-US" sz="1450" dirty="0"/>
          </a:p>
        </p:txBody>
      </p:sp>
      <p:sp>
        <p:nvSpPr>
          <p:cNvPr id="28" name="Text 19"/>
          <p:cNvSpPr/>
          <p:nvPr/>
        </p:nvSpPr>
        <p:spPr>
          <a:xfrm>
            <a:off x="7584092" y="2550716"/>
            <a:ext cx="3972520" cy="224036"/>
          </a:xfrm>
          <a:prstGeom prst="rect">
            <a:avLst/>
          </a:prstGeom>
          <a:noFill/>
          <a:ln/>
        </p:spPr>
        <p:txBody>
          <a:bodyPr wrap="none" lIns="0" tIns="0" rIns="0" bIns="0" rtlCol="0" anchor="t"/>
          <a:lstStyle/>
          <a:p>
            <a:pPr marL="0" indent="0" algn="l">
              <a:lnSpc>
                <a:spcPct val="96000"/>
              </a:lnSpc>
              <a:buNone/>
            </a:pPr>
            <a:r>
              <a:rPr lang="en-US" sz="1550" b="1" kern="100" spc="-8" dirty="0">
                <a:solidFill>
                  <a:srgbClr val="16171D"/>
                </a:solidFill>
                <a:latin typeface="Hanken Grotesk Bold" pitchFamily="34" charset="0"/>
                <a:ea typeface="Hanken Grotesk Bold" pitchFamily="34" charset="-122"/>
                <a:cs typeface="Hanken Grotesk Bold" pitchFamily="34" charset="-120"/>
              </a:rPr>
              <a:t>Outside the current program</a:t>
            </a:r>
            <a:endParaRPr lang="en-US" sz="1550" dirty="0"/>
          </a:p>
        </p:txBody>
      </p:sp>
      <p:sp>
        <p:nvSpPr>
          <p:cNvPr id="29" name="Text 20"/>
          <p:cNvSpPr/>
          <p:nvPr/>
        </p:nvSpPr>
        <p:spPr>
          <a:xfrm>
            <a:off x="7584092" y="2882305"/>
            <a:ext cx="3972520" cy="700385"/>
          </a:xfrm>
          <a:prstGeom prst="rect">
            <a:avLst/>
          </a:prstGeom>
          <a:noFill/>
          <a:ln/>
        </p:spPr>
        <p:txBody>
          <a:bodyPr wrap="square" lIns="0" tIns="0" rIns="0" bIns="0" rtlCol="0" anchor="t">
            <a:normAutofit/>
          </a:bodyPr>
          <a:lstStyle/>
          <a:p>
            <a:pPr marL="0" indent="0" algn="l">
              <a:lnSpc>
                <a:spcPct val="105000"/>
              </a:lnSpc>
              <a:buNone/>
            </a:pPr>
            <a:r>
              <a:rPr lang="en-US" sz="1450" dirty="0">
                <a:solidFill>
                  <a:srgbClr val="16171D"/>
                </a:solidFill>
                <a:latin typeface="Hanken Grotesk" pitchFamily="34" charset="0"/>
                <a:ea typeface="Hanken Grotesk" pitchFamily="34" charset="-122"/>
                <a:cs typeface="Hanken Grotesk" pitchFamily="34" charset="-120"/>
              </a:rPr>
              <a:t>Vehicle purchasing, maintenance, and end-of-life disposal are real-world context—not managed by this Java project.</a:t>
            </a:r>
            <a:endParaRPr lang="en-US" sz="1450" dirty="0"/>
          </a:p>
        </p:txBody>
      </p:sp>
      <p:sp>
        <p:nvSpPr>
          <p:cNvPr id="30" name="Text 21"/>
          <p:cNvSpPr/>
          <p:nvPr/>
        </p:nvSpPr>
        <p:spPr>
          <a:xfrm>
            <a:off x="7584092" y="3669605"/>
            <a:ext cx="3972520" cy="646807"/>
          </a:xfrm>
          <a:prstGeom prst="rect">
            <a:avLst/>
          </a:prstGeom>
          <a:noFill/>
          <a:ln/>
        </p:spPr>
        <p:txBody>
          <a:bodyPr wrap="square" lIns="0" tIns="0" rIns="0" bIns="0" rtlCol="0" anchor="t"/>
          <a:lstStyle/>
          <a:p>
            <a:pPr marL="0" indent="0" algn="l">
              <a:lnSpc>
                <a:spcPct val="108000"/>
              </a:lnSpc>
              <a:spcAft>
                <a:spcPts val="650"/>
              </a:spcAft>
              <a:buNone/>
            </a:pPr>
            <a:r>
              <a:rPr lang="en-US" sz="1150" b="1" kern="100" spc="6" dirty="0">
                <a:solidFill>
                  <a:srgbClr val="16171D"/>
                </a:solidFill>
                <a:latin typeface="Hanken Grotesk Bold" pitchFamily="34" charset="0"/>
                <a:ea typeface="Hanken Grotesk Bold" pitchFamily="34" charset="-122"/>
                <a:cs typeface="Hanken Grotesk Bold" pitchFamily="34" charset="-120"/>
              </a:rPr>
              <a:t>Rental loop:</a:t>
            </a:r>
            <a:r>
              <a:rPr lang="en-US" sz="1150" kern="100" spc="6" dirty="0">
                <a:solidFill>
                  <a:srgbClr val="16171D"/>
                </a:solidFill>
                <a:latin typeface="Hanken Grotesk" pitchFamily="34" charset="0"/>
                <a:ea typeface="Hanken Grotesk" pitchFamily="34" charset="-122"/>
                <a:cs typeface="Hanken Grotesk" pitchFamily="34" charset="-120"/>
              </a:rPr>
              <a:t> available → rent → return → available.</a:t>
            </a:r>
            <a:endParaRPr lang="en-US" sz="1150" dirty="0"/>
          </a:p>
          <a:p>
            <a:pPr marL="0" indent="0" algn="l">
              <a:lnSpc>
                <a:spcPct val="108000"/>
              </a:lnSpc>
              <a:buNone/>
            </a:pPr>
            <a:r>
              <a:rPr lang="en-US" sz="1150" i="1" kern="100" spc="6" dirty="0">
                <a:solidFill>
                  <a:srgbClr val="16171D"/>
                </a:solidFill>
                <a:latin typeface="Hanken Grotesk" pitchFamily="34" charset="0"/>
                <a:ea typeface="Hanken Grotesk" pitchFamily="34" charset="-122"/>
                <a:cs typeface="Hanken Grotesk" pitchFamily="34" charset="-120"/>
              </a:rPr>
              <a:t>The project manages the customer rental transaction, not the entire fleet operation.</a:t>
            </a:r>
            <a:endParaRPr lang="en-US" sz="1150" dirty="0"/>
          </a:p>
        </p:txBody>
      </p:sp>
      <p:sp>
        <p:nvSpPr>
          <p:cNvPr id="31" name="Text 22"/>
          <p:cNvSpPr/>
          <p:nvPr/>
        </p:nvSpPr>
        <p:spPr>
          <a:xfrm>
            <a:off x="406390" y="6675438"/>
            <a:ext cx="11785305" cy="186630"/>
          </a:xfrm>
          <a:prstGeom prst="rect">
            <a:avLst/>
          </a:prstGeom>
          <a:noFill/>
          <a:ln/>
        </p:spPr>
        <p:txBody>
          <a:bodyPr wrap="none" lIns="0" tIns="0" rIns="0" bIns="0" rtlCol="0" anchor="t"/>
          <a:lstStyle/>
          <a:p>
            <a:pPr marL="0" indent="0" algn="l">
              <a:lnSpc>
                <a:spcPct val="108000"/>
              </a:lnSpc>
              <a:buNone/>
            </a:pPr>
            <a:r>
              <a:rPr lang="en-US" sz="1150" b="1" kern="100" spc="6" dirty="0">
                <a:solidFill>
                  <a:srgbClr val="4E5058"/>
                </a:solidFill>
                <a:latin typeface="Hanken Grotesk Bold" pitchFamily="34" charset="0"/>
                <a:ea typeface="Hanken Grotesk Bold" pitchFamily="34" charset="-122"/>
                <a:cs typeface="Hanken Grotesk Bold" pitchFamily="34" charset="-120"/>
              </a:rPr>
              <a:t>Acquisition</a:t>
            </a:r>
            <a:r>
              <a:rPr lang="en-US" sz="1150" kern="100" spc="6" dirty="0">
                <a:solidFill>
                  <a:srgbClr val="4E5058"/>
                </a:solidFill>
                <a:latin typeface="Hanken Grotesk" pitchFamily="34" charset="0"/>
                <a:ea typeface="Hanken Grotesk" pitchFamily="34" charset="-122"/>
                <a:cs typeface="Hanken Grotesk" pitchFamily="34" charset="-120"/>
              </a:rPr>
              <a:t> → </a:t>
            </a:r>
            <a:r>
              <a:rPr lang="en-US" sz="1150" b="1" kern="100" spc="6" dirty="0">
                <a:solidFill>
                  <a:srgbClr val="4E5058"/>
                </a:solidFill>
                <a:latin typeface="Hanken Grotesk Bold" pitchFamily="34" charset="0"/>
                <a:ea typeface="Hanken Grotesk Bold" pitchFamily="34" charset="-122"/>
                <a:cs typeface="Hanken Grotesk Bold" pitchFamily="34" charset="-120"/>
              </a:rPr>
              <a:t>service</a:t>
            </a:r>
            <a:r>
              <a:rPr lang="en-US" sz="1150" kern="100" spc="6" dirty="0">
                <a:solidFill>
                  <a:srgbClr val="4E5058"/>
                </a:solidFill>
                <a:latin typeface="Hanken Grotesk" pitchFamily="34" charset="0"/>
                <a:ea typeface="Hanken Grotesk" pitchFamily="34" charset="-122"/>
                <a:cs typeface="Hanken Grotesk" pitchFamily="34" charset="-120"/>
              </a:rPr>
              <a:t> → </a:t>
            </a:r>
            <a:r>
              <a:rPr lang="en-US" sz="1150" b="1" kern="100" spc="6" dirty="0">
                <a:solidFill>
                  <a:srgbClr val="4E5058"/>
                </a:solidFill>
                <a:latin typeface="Hanken Grotesk Bold" pitchFamily="34" charset="0"/>
                <a:ea typeface="Hanken Grotesk Bold" pitchFamily="34" charset="-122"/>
                <a:cs typeface="Hanken Grotesk Bold" pitchFamily="34" charset="-120"/>
              </a:rPr>
              <a:t>available</a:t>
            </a:r>
            <a:r>
              <a:rPr lang="en-US" sz="1150" kern="100" spc="6" dirty="0">
                <a:solidFill>
                  <a:srgbClr val="4E5058"/>
                </a:solidFill>
                <a:latin typeface="Hanken Grotesk" pitchFamily="34" charset="0"/>
                <a:ea typeface="Hanken Grotesk" pitchFamily="34" charset="-122"/>
                <a:cs typeface="Hanken Grotesk" pitchFamily="34" charset="-120"/>
              </a:rPr>
              <a:t> → </a:t>
            </a:r>
            <a:r>
              <a:rPr lang="en-US" sz="1150" b="1" kern="100" spc="6" dirty="0">
                <a:solidFill>
                  <a:srgbClr val="4E5058"/>
                </a:solidFill>
                <a:latin typeface="Hanken Grotesk Bold" pitchFamily="34" charset="0"/>
                <a:ea typeface="Hanken Grotesk Bold" pitchFamily="34" charset="-122"/>
                <a:cs typeface="Hanken Grotesk Bold" pitchFamily="34" charset="-120"/>
              </a:rPr>
              <a:t>rent</a:t>
            </a:r>
            <a:r>
              <a:rPr lang="en-US" sz="1150" kern="100" spc="6" dirty="0">
                <a:solidFill>
                  <a:srgbClr val="4E5058"/>
                </a:solidFill>
                <a:latin typeface="Hanken Grotesk" pitchFamily="34" charset="0"/>
                <a:ea typeface="Hanken Grotesk" pitchFamily="34" charset="-122"/>
                <a:cs typeface="Hanken Grotesk" pitchFamily="34" charset="-120"/>
              </a:rPr>
              <a:t> → </a:t>
            </a:r>
            <a:r>
              <a:rPr lang="en-US" sz="1150" b="1" kern="100" spc="6" dirty="0">
                <a:solidFill>
                  <a:srgbClr val="4E5058"/>
                </a:solidFill>
                <a:latin typeface="Hanken Grotesk Bold" pitchFamily="34" charset="0"/>
                <a:ea typeface="Hanken Grotesk Bold" pitchFamily="34" charset="-122"/>
                <a:cs typeface="Hanken Grotesk Bold" pitchFamily="34" charset="-120"/>
              </a:rPr>
              <a:t>return</a:t>
            </a:r>
            <a:r>
              <a:rPr lang="en-US" sz="1150" kern="100" spc="6" dirty="0">
                <a:solidFill>
                  <a:srgbClr val="4E5058"/>
                </a:solidFill>
                <a:latin typeface="Hanken Grotesk" pitchFamily="34" charset="0"/>
                <a:ea typeface="Hanken Grotesk" pitchFamily="34" charset="-122"/>
                <a:cs typeface="Hanken Grotesk" pitchFamily="34" charset="-120"/>
              </a:rPr>
              <a:t> → </a:t>
            </a:r>
            <a:r>
              <a:rPr lang="en-US" sz="1150" b="1" kern="100" spc="6" dirty="0">
                <a:solidFill>
                  <a:srgbClr val="4E5058"/>
                </a:solidFill>
                <a:latin typeface="Hanken Grotesk Bold" pitchFamily="34" charset="0"/>
                <a:ea typeface="Hanken Grotesk Bold" pitchFamily="34" charset="-122"/>
                <a:cs typeface="Hanken Grotesk Bold" pitchFamily="34" charset="-120"/>
              </a:rPr>
              <a:t>inspect</a:t>
            </a:r>
            <a:r>
              <a:rPr lang="en-US" sz="1150" kern="100" spc="6" dirty="0">
                <a:solidFill>
                  <a:srgbClr val="4E5058"/>
                </a:solidFill>
                <a:latin typeface="Hanken Grotesk" pitchFamily="34" charset="0"/>
                <a:ea typeface="Hanken Grotesk" pitchFamily="34" charset="-122"/>
                <a:cs typeface="Hanken Grotesk" pitchFamily="34" charset="-120"/>
              </a:rPr>
              <a:t> → </a:t>
            </a:r>
            <a:r>
              <a:rPr lang="en-US" sz="1150" b="1" kern="100" spc="6" dirty="0">
                <a:solidFill>
                  <a:srgbClr val="4E5058"/>
                </a:solidFill>
                <a:latin typeface="Hanken Grotesk Bold" pitchFamily="34" charset="0"/>
                <a:ea typeface="Hanken Grotesk Bold" pitchFamily="34" charset="-122"/>
                <a:cs typeface="Hanken Grotesk Bold" pitchFamily="34" charset="-120"/>
              </a:rPr>
              <a:t>repeat or retire</a:t>
            </a:r>
            <a:endParaRPr lang="en-US" sz="1150" dirty="0"/>
          </a:p>
        </p:txBody>
      </p:sp>
      <p:pic>
        <p:nvPicPr>
          <p:cNvPr id="32" name="Image 7" descr="preencoded.png"/>
          <p:cNvPicPr>
            <a:picLocks noChangeAspect="1"/>
          </p:cNvPicPr>
          <p:nvPr/>
        </p:nvPicPr>
        <p:blipFill>
          <a:blip r:embed="rId8"/>
          <a:stretch>
            <a:fillRect/>
          </a:stretch>
        </p:blipFill>
        <p:spPr>
          <a:xfrm>
            <a:off x="10911309" y="228600"/>
            <a:ext cx="1051692" cy="438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4470288" cy="6858000"/>
          </a:xfrm>
          <a:prstGeom prst="rect">
            <a:avLst/>
          </a:prstGeom>
          <a:solidFill>
            <a:srgbClr val="FF8424"/>
          </a:solidFill>
          <a:ln/>
        </p:spPr>
      </p:sp>
      <p:sp>
        <p:nvSpPr>
          <p:cNvPr id="3" name="Text 1"/>
          <p:cNvSpPr/>
          <p:nvPr/>
        </p:nvSpPr>
        <p:spPr>
          <a:xfrm>
            <a:off x="609585" y="558800"/>
            <a:ext cx="3860703" cy="169763"/>
          </a:xfrm>
          <a:prstGeom prst="rect">
            <a:avLst/>
          </a:prstGeom>
          <a:noFill/>
          <a:ln/>
        </p:spPr>
        <p:txBody>
          <a:bodyPr wrap="none" lIns="0" tIns="0" rIns="0" bIns="0" rtlCol="0" anchor="t"/>
          <a:lstStyle/>
          <a:p>
            <a:pPr marL="0" indent="0" algn="l">
              <a:lnSpc>
                <a:spcPct val="104000"/>
              </a:lnSpc>
              <a:buNone/>
            </a:pPr>
            <a:r>
              <a:rPr lang="en-US" sz="1050" kern="100" spc="11" dirty="0">
                <a:solidFill>
                  <a:srgbClr val="000000"/>
                </a:solidFill>
                <a:latin typeface="Red Hat Mono Medium" pitchFamily="34" charset="0"/>
                <a:ea typeface="Red Hat Mono Medium" pitchFamily="34" charset="-122"/>
                <a:cs typeface="Red Hat Mono Medium" pitchFamily="34" charset="-120"/>
              </a:rPr>
              <a:t>JAVA PROJECT · RENTAL FLEET MANAGER</a:t>
            </a:r>
            <a:endParaRPr lang="en-US" sz="1050" dirty="0"/>
          </a:p>
        </p:txBody>
      </p:sp>
      <p:sp>
        <p:nvSpPr>
          <p:cNvPr id="4" name="Text 2"/>
          <p:cNvSpPr/>
          <p:nvPr/>
        </p:nvSpPr>
        <p:spPr>
          <a:xfrm>
            <a:off x="609585" y="4142680"/>
            <a:ext cx="3403515" cy="1076325"/>
          </a:xfrm>
          <a:prstGeom prst="rect">
            <a:avLst/>
          </a:prstGeom>
          <a:noFill/>
          <a:ln/>
        </p:spPr>
        <p:txBody>
          <a:bodyPr wrap="none" lIns="0" tIns="0" rIns="0" bIns="0" rtlCol="0" anchor="t"/>
          <a:lstStyle/>
          <a:p>
            <a:pPr marL="0" indent="0" algn="l">
              <a:lnSpc>
                <a:spcPct val="77000"/>
              </a:lnSpc>
              <a:buNone/>
            </a:pPr>
            <a:r>
              <a:rPr lang="en-US" sz="9200" dirty="0">
                <a:solidFill>
                  <a:srgbClr val="000000"/>
                </a:solidFill>
                <a:latin typeface="Big Shoulders ExtraBold" pitchFamily="34" charset="0"/>
                <a:ea typeface="Big Shoulders ExtraBold" pitchFamily="34" charset="-122"/>
                <a:cs typeface="Big Shoulders ExtraBold" pitchFamily="34" charset="-120"/>
              </a:rPr>
              <a:t>01</a:t>
            </a:r>
            <a:endParaRPr lang="en-US" sz="9200" dirty="0"/>
          </a:p>
        </p:txBody>
      </p:sp>
      <p:sp>
        <p:nvSpPr>
          <p:cNvPr id="5" name="Text 3"/>
          <p:cNvSpPr/>
          <p:nvPr/>
        </p:nvSpPr>
        <p:spPr>
          <a:xfrm>
            <a:off x="609585" y="5358606"/>
            <a:ext cx="3403515" cy="357187"/>
          </a:xfrm>
          <a:prstGeom prst="rect">
            <a:avLst/>
          </a:prstGeom>
          <a:noFill/>
          <a:ln/>
        </p:spPr>
        <p:txBody>
          <a:bodyPr wrap="none" lIns="0" tIns="0" rIns="0" bIns="0" rtlCol="0" anchor="t"/>
          <a:lstStyle/>
          <a:p>
            <a:pPr marL="0" indent="0" algn="l">
              <a:lnSpc>
                <a:spcPct val="79000"/>
              </a:lnSpc>
              <a:buNone/>
            </a:pPr>
            <a:r>
              <a:rPr lang="en-US" sz="2950" kern="100" spc="15" dirty="0">
                <a:solidFill>
                  <a:srgbClr val="000000"/>
                </a:solidFill>
                <a:latin typeface="Big Shoulders ExtraBold" pitchFamily="34" charset="0"/>
                <a:ea typeface="Big Shoulders ExtraBold" pitchFamily="34" charset="-122"/>
                <a:cs typeface="Big Shoulders ExtraBold" pitchFamily="34" charset="-120"/>
              </a:rPr>
              <a:t>PROBLEM STATEMENT</a:t>
            </a:r>
            <a:endParaRPr lang="en-US" sz="2950" dirty="0"/>
          </a:p>
        </p:txBody>
      </p:sp>
      <p:sp>
        <p:nvSpPr>
          <p:cNvPr id="6" name="Text 4"/>
          <p:cNvSpPr/>
          <p:nvPr/>
        </p:nvSpPr>
        <p:spPr>
          <a:xfrm>
            <a:off x="609585" y="5870377"/>
            <a:ext cx="3403515" cy="479623"/>
          </a:xfrm>
          <a:prstGeom prst="rect">
            <a:avLst/>
          </a:prstGeom>
          <a:noFill/>
          <a:ln/>
        </p:spPr>
        <p:txBody>
          <a:bodyPr wrap="square" lIns="0" tIns="0" rIns="0" bIns="0" rtlCol="0" anchor="t">
            <a:normAutofit/>
          </a:bodyPr>
          <a:lstStyle/>
          <a:p>
            <a:pPr marL="0" indent="0" algn="l">
              <a:lnSpc>
                <a:spcPct val="106000"/>
              </a:lnSpc>
              <a:buNone/>
            </a:pPr>
            <a:r>
              <a:rPr lang="en-US" sz="1500" dirty="0">
                <a:solidFill>
                  <a:srgbClr val="000000"/>
                </a:solidFill>
                <a:latin typeface="Hanken Grotesk" pitchFamily="34" charset="0"/>
                <a:ea typeface="Hanken Grotesk" pitchFamily="34" charset="-122"/>
                <a:cs typeface="Hanken Grotesk" pitchFamily="34" charset="-120"/>
              </a:rPr>
              <a:t>Rental operations become harder to manage as the number of cars grows.</a:t>
            </a:r>
            <a:endParaRPr lang="en-US" sz="1500" dirty="0"/>
          </a:p>
        </p:txBody>
      </p:sp>
      <p:sp>
        <p:nvSpPr>
          <p:cNvPr id="7" name="Text 5"/>
          <p:cNvSpPr/>
          <p:nvPr/>
        </p:nvSpPr>
        <p:spPr>
          <a:xfrm>
            <a:off x="4927477" y="508000"/>
            <a:ext cx="6654634" cy="952698"/>
          </a:xfrm>
          <a:prstGeom prst="rect">
            <a:avLst/>
          </a:prstGeom>
          <a:noFill/>
          <a:ln/>
        </p:spPr>
        <p:txBody>
          <a:bodyPr wrap="square" lIns="0" tIns="0" rIns="0" bIns="0" rtlCol="0" anchor="t">
            <a:normAutofit/>
          </a:bodyPr>
          <a:lstStyle/>
          <a:p>
            <a:pPr marL="0" indent="0" algn="l">
              <a:lnSpc>
                <a:spcPct val="79000"/>
              </a:lnSpc>
              <a:buNone/>
            </a:pPr>
            <a:r>
              <a:rPr lang="en-US" sz="3950" kern="100" spc="20" dirty="0">
                <a:solidFill>
                  <a:srgbClr val="16171D"/>
                </a:solidFill>
                <a:latin typeface="Big Shoulders ExtraBold" pitchFamily="34" charset="0"/>
                <a:ea typeface="Big Shoulders ExtraBold" pitchFamily="34" charset="-122"/>
                <a:cs typeface="Big Shoulders ExtraBold" pitchFamily="34" charset="-120"/>
              </a:rPr>
              <a:t>WHY A COMPUTERIZED SYSTEM IS NEEDED</a:t>
            </a:r>
            <a:endParaRPr lang="en-US" sz="3950" dirty="0"/>
          </a:p>
        </p:txBody>
      </p:sp>
      <p:sp>
        <p:nvSpPr>
          <p:cNvPr id="8" name="Shape 6"/>
          <p:cNvSpPr/>
          <p:nvPr/>
        </p:nvSpPr>
        <p:spPr>
          <a:xfrm>
            <a:off x="4927477" y="1615281"/>
            <a:ext cx="329001" cy="329009"/>
          </a:xfrm>
          <a:prstGeom prst="ellipse">
            <a:avLst/>
          </a:prstGeom>
          <a:solidFill>
            <a:srgbClr val="FF8424"/>
          </a:solidFill>
          <a:ln w="6350">
            <a:solidFill>
              <a:srgbClr val="D5D3CA"/>
            </a:solidFill>
            <a:prstDash val="solid"/>
          </a:ln>
        </p:spPr>
      </p:sp>
      <p:sp>
        <p:nvSpPr>
          <p:cNvPr id="9" name="Text 7"/>
          <p:cNvSpPr/>
          <p:nvPr/>
        </p:nvSpPr>
        <p:spPr>
          <a:xfrm>
            <a:off x="4986610" y="1685727"/>
            <a:ext cx="820221" cy="188020"/>
          </a:xfrm>
          <a:prstGeom prst="rect">
            <a:avLst/>
          </a:prstGeom>
          <a:noFill/>
          <a:ln/>
        </p:spPr>
        <p:txBody>
          <a:bodyPr wrap="none" lIns="0" tIns="0" rIns="0" bIns="0" rtlCol="0" anchor="t"/>
          <a:lstStyle/>
          <a:p>
            <a:pPr marL="0" indent="0" algn="l">
              <a:lnSpc>
                <a:spcPct val="83000"/>
              </a:lnSpc>
              <a:buNone/>
            </a:pPr>
            <a:r>
              <a:rPr lang="en-US" sz="1500" dirty="0">
                <a:solidFill>
                  <a:srgbClr val="000000"/>
                </a:solidFill>
                <a:latin typeface="Hanken Grotesk SemiBold" pitchFamily="34" charset="0"/>
                <a:ea typeface="Hanken Grotesk SemiBold" pitchFamily="34" charset="-122"/>
                <a:cs typeface="Hanken Grotesk SemiBold" pitchFamily="34" charset="-120"/>
              </a:rPr>
              <a:t>01</a:t>
            </a:r>
            <a:endParaRPr lang="en-US" sz="1500" dirty="0"/>
          </a:p>
        </p:txBody>
      </p:sp>
      <p:sp>
        <p:nvSpPr>
          <p:cNvPr id="10" name="Text 8"/>
          <p:cNvSpPr/>
          <p:nvPr/>
        </p:nvSpPr>
        <p:spPr>
          <a:xfrm>
            <a:off x="5444493" y="1660327"/>
            <a:ext cx="1235540" cy="2158305"/>
          </a:xfrm>
          <a:prstGeom prst="rect">
            <a:avLst/>
          </a:prstGeom>
          <a:noFill/>
          <a:ln/>
        </p:spPr>
        <p:txBody>
          <a:bodyPr wrap="square" lIns="0" tIns="0" rIns="0" bIns="0" rtlCol="0" anchor="t">
            <a:normAutofit/>
          </a:bodyPr>
          <a:lstStyle/>
          <a:p>
            <a:pPr marL="0" indent="0" algn="l">
              <a:lnSpc>
                <a:spcPct val="106000"/>
              </a:lnSpc>
              <a:buNone/>
            </a:pPr>
            <a:r>
              <a:rPr lang="en-US" sz="1500" b="1" dirty="0">
                <a:solidFill>
                  <a:srgbClr val="16171D"/>
                </a:solidFill>
                <a:latin typeface="Hanken Grotesk Bold" pitchFamily="34" charset="0"/>
                <a:ea typeface="Hanken Grotesk Bold" pitchFamily="34" charset="-122"/>
                <a:cs typeface="Hanken Grotesk Bold" pitchFamily="34" charset="-120"/>
              </a:rPr>
              <a:t>Manual management is difficult.</a:t>
            </a:r>
            <a:r>
              <a:rPr lang="en-US" sz="1500" dirty="0">
                <a:solidFill>
                  <a:srgbClr val="16171D"/>
                </a:solidFill>
                <a:latin typeface="Hanken Grotesk" pitchFamily="34" charset="0"/>
                <a:ea typeface="Hanken Grotesk" pitchFamily="34" charset="-122"/>
                <a:cs typeface="Hanken Grotesk" pitchFamily="34" charset="-120"/>
              </a:rPr>
              <a:t> Managing multiple rental cars by hand can be confusing and error-prone.</a:t>
            </a:r>
            <a:endParaRPr lang="en-US" sz="1500" dirty="0"/>
          </a:p>
        </p:txBody>
      </p:sp>
      <p:sp>
        <p:nvSpPr>
          <p:cNvPr id="11" name="Shape 9"/>
          <p:cNvSpPr/>
          <p:nvPr/>
        </p:nvSpPr>
        <p:spPr>
          <a:xfrm>
            <a:off x="6984825" y="1615281"/>
            <a:ext cx="329001" cy="329009"/>
          </a:xfrm>
          <a:prstGeom prst="ellipse">
            <a:avLst/>
          </a:prstGeom>
          <a:solidFill>
            <a:srgbClr val="FF8424"/>
          </a:solidFill>
          <a:ln w="6350">
            <a:solidFill>
              <a:srgbClr val="D5D3CA"/>
            </a:solidFill>
            <a:prstDash val="solid"/>
          </a:ln>
        </p:spPr>
      </p:sp>
      <p:sp>
        <p:nvSpPr>
          <p:cNvPr id="12" name="Text 10"/>
          <p:cNvSpPr/>
          <p:nvPr/>
        </p:nvSpPr>
        <p:spPr>
          <a:xfrm>
            <a:off x="7043958" y="1685727"/>
            <a:ext cx="820221" cy="188020"/>
          </a:xfrm>
          <a:prstGeom prst="rect">
            <a:avLst/>
          </a:prstGeom>
          <a:noFill/>
          <a:ln/>
        </p:spPr>
        <p:txBody>
          <a:bodyPr wrap="none" lIns="0" tIns="0" rIns="0" bIns="0" rtlCol="0" anchor="t"/>
          <a:lstStyle/>
          <a:p>
            <a:pPr marL="0" indent="0" algn="l">
              <a:lnSpc>
                <a:spcPct val="83000"/>
              </a:lnSpc>
              <a:buNone/>
            </a:pPr>
            <a:r>
              <a:rPr lang="en-US" sz="1500" dirty="0">
                <a:solidFill>
                  <a:srgbClr val="000000"/>
                </a:solidFill>
                <a:latin typeface="Hanken Grotesk SemiBold" pitchFamily="34" charset="0"/>
                <a:ea typeface="Hanken Grotesk SemiBold" pitchFamily="34" charset="-122"/>
                <a:cs typeface="Hanken Grotesk SemiBold" pitchFamily="34" charset="-120"/>
              </a:rPr>
              <a:t>02</a:t>
            </a:r>
            <a:endParaRPr lang="en-US" sz="1500" dirty="0"/>
          </a:p>
        </p:txBody>
      </p:sp>
      <p:sp>
        <p:nvSpPr>
          <p:cNvPr id="13" name="Text 11"/>
          <p:cNvSpPr/>
          <p:nvPr/>
        </p:nvSpPr>
        <p:spPr>
          <a:xfrm>
            <a:off x="7501841" y="1660327"/>
            <a:ext cx="1235540" cy="2158305"/>
          </a:xfrm>
          <a:prstGeom prst="rect">
            <a:avLst/>
          </a:prstGeom>
          <a:noFill/>
          <a:ln/>
        </p:spPr>
        <p:txBody>
          <a:bodyPr wrap="square" lIns="0" tIns="0" rIns="0" bIns="0" rtlCol="0" anchor="t">
            <a:normAutofit/>
          </a:bodyPr>
          <a:lstStyle/>
          <a:p>
            <a:pPr marL="0" indent="0" algn="l">
              <a:lnSpc>
                <a:spcPct val="106000"/>
              </a:lnSpc>
              <a:buNone/>
            </a:pPr>
            <a:r>
              <a:rPr lang="en-US" sz="1500" b="1" dirty="0">
                <a:solidFill>
                  <a:srgbClr val="16171D"/>
                </a:solidFill>
                <a:latin typeface="Hanken Grotesk Bold" pitchFamily="34" charset="0"/>
                <a:ea typeface="Hanken Grotesk Bold" pitchFamily="34" charset="-122"/>
                <a:cs typeface="Hanken Grotesk Bold" pitchFamily="34" charset="-120"/>
              </a:rPr>
              <a:t>Availability must be clear.</a:t>
            </a:r>
            <a:r>
              <a:rPr lang="en-US" sz="1500" dirty="0">
                <a:solidFill>
                  <a:srgbClr val="16171D"/>
                </a:solidFill>
                <a:latin typeface="Hanken Grotesk" pitchFamily="34" charset="0"/>
                <a:ea typeface="Hanken Grotesk" pitchFamily="34" charset="-122"/>
                <a:cs typeface="Hanken Grotesk" pitchFamily="34" charset="-120"/>
              </a:rPr>
              <a:t> Staff need an efficient way to know which cars are available, rented or unavailable.</a:t>
            </a:r>
            <a:endParaRPr lang="en-US" sz="1500" dirty="0"/>
          </a:p>
        </p:txBody>
      </p:sp>
      <p:sp>
        <p:nvSpPr>
          <p:cNvPr id="14" name="Shape 12"/>
          <p:cNvSpPr/>
          <p:nvPr/>
        </p:nvSpPr>
        <p:spPr>
          <a:xfrm>
            <a:off x="4927477" y="4363244"/>
            <a:ext cx="329001" cy="329009"/>
          </a:xfrm>
          <a:prstGeom prst="ellipse">
            <a:avLst/>
          </a:prstGeom>
          <a:solidFill>
            <a:srgbClr val="FF8424"/>
          </a:solidFill>
          <a:ln w="6350">
            <a:solidFill>
              <a:srgbClr val="D5D3CA"/>
            </a:solidFill>
            <a:prstDash val="solid"/>
          </a:ln>
        </p:spPr>
      </p:sp>
      <p:sp>
        <p:nvSpPr>
          <p:cNvPr id="15" name="Text 13"/>
          <p:cNvSpPr/>
          <p:nvPr/>
        </p:nvSpPr>
        <p:spPr>
          <a:xfrm>
            <a:off x="4986610" y="4433689"/>
            <a:ext cx="820221" cy="188020"/>
          </a:xfrm>
          <a:prstGeom prst="rect">
            <a:avLst/>
          </a:prstGeom>
          <a:noFill/>
          <a:ln/>
        </p:spPr>
        <p:txBody>
          <a:bodyPr wrap="none" lIns="0" tIns="0" rIns="0" bIns="0" rtlCol="0" anchor="t"/>
          <a:lstStyle/>
          <a:p>
            <a:pPr marL="0" indent="0" algn="l">
              <a:lnSpc>
                <a:spcPct val="83000"/>
              </a:lnSpc>
              <a:buNone/>
            </a:pPr>
            <a:r>
              <a:rPr lang="en-US" sz="1500" dirty="0">
                <a:solidFill>
                  <a:srgbClr val="000000"/>
                </a:solidFill>
                <a:latin typeface="Hanken Grotesk SemiBold" pitchFamily="34" charset="0"/>
                <a:ea typeface="Hanken Grotesk SemiBold" pitchFamily="34" charset="-122"/>
                <a:cs typeface="Hanken Grotesk SemiBold" pitchFamily="34" charset="-120"/>
              </a:rPr>
              <a:t>03</a:t>
            </a:r>
            <a:endParaRPr lang="en-US" sz="1500" dirty="0"/>
          </a:p>
        </p:txBody>
      </p:sp>
      <p:sp>
        <p:nvSpPr>
          <p:cNvPr id="16" name="Text 14"/>
          <p:cNvSpPr/>
          <p:nvPr/>
        </p:nvSpPr>
        <p:spPr>
          <a:xfrm>
            <a:off x="5444493" y="4408289"/>
            <a:ext cx="1235540" cy="2398117"/>
          </a:xfrm>
          <a:prstGeom prst="rect">
            <a:avLst/>
          </a:prstGeom>
          <a:noFill/>
          <a:ln/>
        </p:spPr>
        <p:txBody>
          <a:bodyPr wrap="square" lIns="0" tIns="0" rIns="0" bIns="0" rtlCol="0" anchor="t">
            <a:normAutofit/>
          </a:bodyPr>
          <a:lstStyle/>
          <a:p>
            <a:pPr marL="0" indent="0" algn="l">
              <a:lnSpc>
                <a:spcPct val="106000"/>
              </a:lnSpc>
              <a:buNone/>
            </a:pPr>
            <a:r>
              <a:rPr lang="en-US" sz="1500" b="1" dirty="0">
                <a:solidFill>
                  <a:srgbClr val="16171D"/>
                </a:solidFill>
                <a:latin typeface="Hanken Grotesk Bold" pitchFamily="34" charset="0"/>
                <a:ea typeface="Hanken Grotesk Bold" pitchFamily="34" charset="-122"/>
                <a:cs typeface="Hanken Grotesk Bold" pitchFamily="34" charset="-120"/>
              </a:rPr>
              <a:t>Updates take time.</a:t>
            </a:r>
            <a:r>
              <a:rPr lang="en-US" sz="1500" dirty="0">
                <a:solidFill>
                  <a:srgbClr val="16171D"/>
                </a:solidFill>
                <a:latin typeface="Hanken Grotesk" pitchFamily="34" charset="0"/>
                <a:ea typeface="Hanken Grotesk" pitchFamily="34" charset="-122"/>
                <a:cs typeface="Hanken Grotesk" pitchFamily="34" charset="-120"/>
              </a:rPr>
              <a:t> Searching for cars and updating rental status manually slows down daily operations.</a:t>
            </a:r>
            <a:endParaRPr lang="en-US" sz="1500" dirty="0"/>
          </a:p>
        </p:txBody>
      </p:sp>
      <p:sp>
        <p:nvSpPr>
          <p:cNvPr id="17" name="Shape 15"/>
          <p:cNvSpPr/>
          <p:nvPr/>
        </p:nvSpPr>
        <p:spPr>
          <a:xfrm>
            <a:off x="6984825" y="4363244"/>
            <a:ext cx="329001" cy="329009"/>
          </a:xfrm>
          <a:prstGeom prst="ellipse">
            <a:avLst/>
          </a:prstGeom>
          <a:solidFill>
            <a:srgbClr val="FF8424"/>
          </a:solidFill>
          <a:ln w="6350">
            <a:solidFill>
              <a:srgbClr val="D5D3CA"/>
            </a:solidFill>
            <a:prstDash val="solid"/>
          </a:ln>
        </p:spPr>
      </p:sp>
      <p:sp>
        <p:nvSpPr>
          <p:cNvPr id="18" name="Text 16"/>
          <p:cNvSpPr/>
          <p:nvPr/>
        </p:nvSpPr>
        <p:spPr>
          <a:xfrm>
            <a:off x="7043958" y="4433689"/>
            <a:ext cx="820221" cy="188020"/>
          </a:xfrm>
          <a:prstGeom prst="rect">
            <a:avLst/>
          </a:prstGeom>
          <a:noFill/>
          <a:ln/>
        </p:spPr>
        <p:txBody>
          <a:bodyPr wrap="none" lIns="0" tIns="0" rIns="0" bIns="0" rtlCol="0" anchor="t"/>
          <a:lstStyle/>
          <a:p>
            <a:pPr marL="0" indent="0" algn="l">
              <a:lnSpc>
                <a:spcPct val="83000"/>
              </a:lnSpc>
              <a:buNone/>
            </a:pPr>
            <a:r>
              <a:rPr lang="en-US" sz="1500" dirty="0">
                <a:solidFill>
                  <a:srgbClr val="000000"/>
                </a:solidFill>
                <a:latin typeface="Hanken Grotesk SemiBold" pitchFamily="34" charset="0"/>
                <a:ea typeface="Hanken Grotesk SemiBold" pitchFamily="34" charset="-122"/>
                <a:cs typeface="Hanken Grotesk SemiBold" pitchFamily="34" charset="-120"/>
              </a:rPr>
              <a:t>04</a:t>
            </a:r>
            <a:endParaRPr lang="en-US" sz="1500" dirty="0"/>
          </a:p>
        </p:txBody>
      </p:sp>
      <p:sp>
        <p:nvSpPr>
          <p:cNvPr id="19" name="Text 17"/>
          <p:cNvSpPr/>
          <p:nvPr/>
        </p:nvSpPr>
        <p:spPr>
          <a:xfrm>
            <a:off x="7501841" y="4408289"/>
            <a:ext cx="1235540" cy="2398117"/>
          </a:xfrm>
          <a:prstGeom prst="rect">
            <a:avLst/>
          </a:prstGeom>
          <a:noFill/>
          <a:ln/>
        </p:spPr>
        <p:txBody>
          <a:bodyPr wrap="square" lIns="0" tIns="0" rIns="0" bIns="0" rtlCol="0" anchor="t">
            <a:normAutofit/>
          </a:bodyPr>
          <a:lstStyle/>
          <a:p>
            <a:pPr marL="0" indent="0" algn="l">
              <a:lnSpc>
                <a:spcPct val="106000"/>
              </a:lnSpc>
              <a:buNone/>
            </a:pPr>
            <a:r>
              <a:rPr lang="en-US" sz="1500" b="1" dirty="0">
                <a:solidFill>
                  <a:srgbClr val="16171D"/>
                </a:solidFill>
                <a:latin typeface="Hanken Grotesk Bold" pitchFamily="34" charset="0"/>
                <a:ea typeface="Hanken Grotesk Bold" pitchFamily="34" charset="-122"/>
                <a:cs typeface="Hanken Grotesk Bold" pitchFamily="34" charset="-120"/>
              </a:rPr>
              <a:t>One organized system helps.</a:t>
            </a:r>
            <a:r>
              <a:rPr lang="en-US" sz="1500" dirty="0">
                <a:solidFill>
                  <a:srgbClr val="16171D"/>
                </a:solidFill>
                <a:latin typeface="Hanken Grotesk" pitchFamily="34" charset="0"/>
                <a:ea typeface="Hanken Grotesk" pitchFamily="34" charset="-122"/>
                <a:cs typeface="Hanken Grotesk" pitchFamily="34" charset="-120"/>
              </a:rPr>
              <a:t> A computerized system can simplify these operations and keep information organized.</a:t>
            </a:r>
            <a:endParaRPr lang="en-US" sz="1500" dirty="0"/>
          </a:p>
        </p:txBody>
      </p:sp>
      <p:pic>
        <p:nvPicPr>
          <p:cNvPr id="20" name="Image 0" descr="preencoded.png"/>
          <p:cNvPicPr>
            <a:picLocks noChangeAspect="1"/>
          </p:cNvPicPr>
          <p:nvPr/>
        </p:nvPicPr>
        <p:blipFill>
          <a:blip r:embed="rId3"/>
          <a:stretch>
            <a:fillRect/>
          </a:stretch>
        </p:blipFill>
        <p:spPr>
          <a:xfrm>
            <a:off x="9042075" y="1615281"/>
            <a:ext cx="2540036" cy="5191125"/>
          </a:xfrm>
          <a:prstGeom prst="rect">
            <a:avLst/>
          </a:prstGeom>
        </p:spPr>
      </p:pic>
      <p:pic>
        <p:nvPicPr>
          <p:cNvPr id="21" name="Image 1" descr="preencoded.png"/>
          <p:cNvPicPr>
            <a:picLocks noChangeAspect="1"/>
          </p:cNvPicPr>
          <p:nvPr/>
        </p:nvPicPr>
        <p:blipFill>
          <a:blip r:embed="rId4"/>
          <a:stretch>
            <a:fillRect/>
          </a:stretch>
        </p:blipFill>
        <p:spPr>
          <a:xfrm>
            <a:off x="11127799" y="0"/>
            <a:ext cx="1063797" cy="4254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406400"/>
            <a:ext cx="11582110"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16171D"/>
                </a:solidFill>
                <a:latin typeface="Red Hat Mono Medium" pitchFamily="34" charset="0"/>
                <a:ea typeface="Red Hat Mono Medium" pitchFamily="34" charset="-122"/>
                <a:cs typeface="Red Hat Mono Medium" pitchFamily="34" charset="-120"/>
              </a:rPr>
              <a:t>02 · OBJECTIVES</a:t>
            </a:r>
            <a:endParaRPr lang="en-US" sz="1300" dirty="0"/>
          </a:p>
        </p:txBody>
      </p:sp>
      <p:sp>
        <p:nvSpPr>
          <p:cNvPr id="3" name="Text 1"/>
          <p:cNvSpPr/>
          <p:nvPr/>
        </p:nvSpPr>
        <p:spPr>
          <a:xfrm>
            <a:off x="609585" y="704850"/>
            <a:ext cx="10972526" cy="579041"/>
          </a:xfrm>
          <a:prstGeom prst="rect">
            <a:avLst/>
          </a:prstGeom>
          <a:noFill/>
          <a:ln/>
        </p:spPr>
        <p:txBody>
          <a:bodyPr wrap="none" lIns="0" tIns="0" rIns="0" bIns="0" rtlCol="0" anchor="t"/>
          <a:lstStyle/>
          <a:p>
            <a:pPr marL="0" indent="0" algn="l">
              <a:lnSpc>
                <a:spcPct val="79000"/>
              </a:lnSpc>
              <a:buNone/>
            </a:pPr>
            <a:r>
              <a:rPr lang="en-US" sz="4800" kern="100" spc="24" dirty="0">
                <a:solidFill>
                  <a:srgbClr val="16171D"/>
                </a:solidFill>
                <a:latin typeface="Big Shoulders ExtraBold" pitchFamily="34" charset="0"/>
                <a:ea typeface="Big Shoulders ExtraBold" pitchFamily="34" charset="-122"/>
                <a:cs typeface="Big Shoulders ExtraBold" pitchFamily="34" charset="-120"/>
              </a:rPr>
              <a:t>RENTAL CAR FLEET MANAGER</a:t>
            </a:r>
            <a:endParaRPr lang="en-US" sz="4800" dirty="0"/>
          </a:p>
        </p:txBody>
      </p:sp>
      <p:sp>
        <p:nvSpPr>
          <p:cNvPr id="4" name="Shape 2"/>
          <p:cNvSpPr/>
          <p:nvPr/>
        </p:nvSpPr>
        <p:spPr>
          <a:xfrm>
            <a:off x="609585" y="1537891"/>
            <a:ext cx="3505112" cy="2066727"/>
          </a:xfrm>
          <a:prstGeom prst="rect">
            <a:avLst/>
          </a:prstGeom>
          <a:solidFill>
            <a:srgbClr val="EFEDE6"/>
          </a:solidFill>
          <a:ln/>
        </p:spPr>
      </p:sp>
      <p:sp>
        <p:nvSpPr>
          <p:cNvPr id="5" name="Text 3"/>
          <p:cNvSpPr/>
          <p:nvPr/>
        </p:nvSpPr>
        <p:spPr>
          <a:xfrm>
            <a:off x="838179" y="1791891"/>
            <a:ext cx="865662" cy="228600"/>
          </a:xfrm>
          <a:prstGeom prst="rect">
            <a:avLst/>
          </a:prstGeom>
          <a:noFill/>
          <a:ln/>
        </p:spPr>
        <p:txBody>
          <a:bodyPr wrap="none" lIns="0" tIns="0" rIns="0" bIns="0" rtlCol="0" anchor="t"/>
          <a:lstStyle/>
          <a:p>
            <a:pPr marL="0" indent="0" algn="l">
              <a:lnSpc>
                <a:spcPct val="83000"/>
              </a:lnSpc>
              <a:buNone/>
            </a:pPr>
            <a:r>
              <a:rPr lang="en-US" sz="1800" dirty="0">
                <a:solidFill>
                  <a:srgbClr val="16171D"/>
                </a:solidFill>
                <a:latin typeface="Hanken Grotesk SemiBold" pitchFamily="34" charset="0"/>
                <a:ea typeface="Hanken Grotesk SemiBold" pitchFamily="34" charset="-122"/>
                <a:cs typeface="Hanken Grotesk SemiBold" pitchFamily="34" charset="-120"/>
              </a:rPr>
              <a:t>01</a:t>
            </a:r>
            <a:endParaRPr lang="en-US" sz="1800" dirty="0"/>
          </a:p>
        </p:txBody>
      </p:sp>
      <p:sp>
        <p:nvSpPr>
          <p:cNvPr id="6" name="Shape 4"/>
          <p:cNvSpPr/>
          <p:nvPr/>
        </p:nvSpPr>
        <p:spPr>
          <a:xfrm>
            <a:off x="838179" y="2111970"/>
            <a:ext cx="3047924" cy="19050"/>
          </a:xfrm>
          <a:prstGeom prst="rect">
            <a:avLst/>
          </a:prstGeom>
          <a:solidFill>
            <a:srgbClr val="FF8424"/>
          </a:solidFill>
          <a:ln/>
        </p:spPr>
      </p:sp>
      <p:sp>
        <p:nvSpPr>
          <p:cNvPr id="7" name="Text 5"/>
          <p:cNvSpPr/>
          <p:nvPr/>
        </p:nvSpPr>
        <p:spPr>
          <a:xfrm>
            <a:off x="838179" y="2268141"/>
            <a:ext cx="3047924"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Manage vehicle information</a:t>
            </a:r>
            <a:endParaRPr lang="en-US" sz="1900" dirty="0"/>
          </a:p>
        </p:txBody>
      </p:sp>
      <p:sp>
        <p:nvSpPr>
          <p:cNvPr id="8" name="Text 6"/>
          <p:cNvSpPr/>
          <p:nvPr/>
        </p:nvSpPr>
        <p:spPr>
          <a:xfrm>
            <a:off x="838179" y="2710656"/>
            <a:ext cx="3047924" cy="639961"/>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Keep car details organized and up to date.</a:t>
            </a:r>
            <a:endParaRPr lang="en-US" sz="1800" dirty="0"/>
          </a:p>
        </p:txBody>
      </p:sp>
      <p:sp>
        <p:nvSpPr>
          <p:cNvPr id="9" name="Shape 7"/>
          <p:cNvSpPr/>
          <p:nvPr/>
        </p:nvSpPr>
        <p:spPr>
          <a:xfrm>
            <a:off x="4419489" y="1537891"/>
            <a:ext cx="3352716" cy="2066727"/>
          </a:xfrm>
          <a:prstGeom prst="rect">
            <a:avLst/>
          </a:prstGeom>
          <a:solidFill>
            <a:srgbClr val="EFEDE6"/>
          </a:solidFill>
          <a:ln/>
        </p:spPr>
      </p:sp>
      <p:sp>
        <p:nvSpPr>
          <p:cNvPr id="10" name="Text 8"/>
          <p:cNvSpPr/>
          <p:nvPr/>
        </p:nvSpPr>
        <p:spPr>
          <a:xfrm>
            <a:off x="4648084" y="1791891"/>
            <a:ext cx="865662" cy="228600"/>
          </a:xfrm>
          <a:prstGeom prst="rect">
            <a:avLst/>
          </a:prstGeom>
          <a:noFill/>
          <a:ln/>
        </p:spPr>
        <p:txBody>
          <a:bodyPr wrap="none" lIns="0" tIns="0" rIns="0" bIns="0" rtlCol="0" anchor="t"/>
          <a:lstStyle/>
          <a:p>
            <a:pPr marL="0" indent="0" algn="l">
              <a:lnSpc>
                <a:spcPct val="83000"/>
              </a:lnSpc>
              <a:buNone/>
            </a:pPr>
            <a:r>
              <a:rPr lang="en-US" sz="1800" dirty="0">
                <a:solidFill>
                  <a:srgbClr val="16171D"/>
                </a:solidFill>
                <a:latin typeface="Hanken Grotesk SemiBold" pitchFamily="34" charset="0"/>
                <a:ea typeface="Hanken Grotesk SemiBold" pitchFamily="34" charset="-122"/>
                <a:cs typeface="Hanken Grotesk SemiBold" pitchFamily="34" charset="-120"/>
              </a:rPr>
              <a:t>02</a:t>
            </a:r>
            <a:endParaRPr lang="en-US" sz="1800" dirty="0"/>
          </a:p>
        </p:txBody>
      </p:sp>
      <p:sp>
        <p:nvSpPr>
          <p:cNvPr id="11" name="Shape 9"/>
          <p:cNvSpPr/>
          <p:nvPr/>
        </p:nvSpPr>
        <p:spPr>
          <a:xfrm>
            <a:off x="4648084" y="2111970"/>
            <a:ext cx="2895528" cy="19050"/>
          </a:xfrm>
          <a:prstGeom prst="rect">
            <a:avLst/>
          </a:prstGeom>
          <a:solidFill>
            <a:srgbClr val="FF8424"/>
          </a:solidFill>
          <a:ln/>
        </p:spPr>
      </p:sp>
      <p:sp>
        <p:nvSpPr>
          <p:cNvPr id="12" name="Text 10"/>
          <p:cNvSpPr/>
          <p:nvPr/>
        </p:nvSpPr>
        <p:spPr>
          <a:xfrm>
            <a:off x="4648084" y="2268141"/>
            <a:ext cx="2895528"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Search for cars quickly</a:t>
            </a:r>
            <a:endParaRPr lang="en-US" sz="1900" dirty="0"/>
          </a:p>
        </p:txBody>
      </p:sp>
      <p:sp>
        <p:nvSpPr>
          <p:cNvPr id="13" name="Text 11"/>
          <p:cNvSpPr/>
          <p:nvPr/>
        </p:nvSpPr>
        <p:spPr>
          <a:xfrm>
            <a:off x="4648084" y="2710656"/>
            <a:ext cx="2895528" cy="639961"/>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Find the right vehicle with fast search.</a:t>
            </a:r>
            <a:endParaRPr lang="en-US" sz="1800" dirty="0"/>
          </a:p>
        </p:txBody>
      </p:sp>
      <p:sp>
        <p:nvSpPr>
          <p:cNvPr id="14" name="Shape 12"/>
          <p:cNvSpPr/>
          <p:nvPr/>
        </p:nvSpPr>
        <p:spPr>
          <a:xfrm>
            <a:off x="8076998" y="1537891"/>
            <a:ext cx="3505112" cy="2066727"/>
          </a:xfrm>
          <a:prstGeom prst="rect">
            <a:avLst/>
          </a:prstGeom>
          <a:solidFill>
            <a:srgbClr val="EFEDE6"/>
          </a:solidFill>
          <a:ln/>
        </p:spPr>
      </p:sp>
      <p:sp>
        <p:nvSpPr>
          <p:cNvPr id="15" name="Text 13"/>
          <p:cNvSpPr/>
          <p:nvPr/>
        </p:nvSpPr>
        <p:spPr>
          <a:xfrm>
            <a:off x="8305592" y="1791891"/>
            <a:ext cx="865662" cy="228600"/>
          </a:xfrm>
          <a:prstGeom prst="rect">
            <a:avLst/>
          </a:prstGeom>
          <a:noFill/>
          <a:ln/>
        </p:spPr>
        <p:txBody>
          <a:bodyPr wrap="none" lIns="0" tIns="0" rIns="0" bIns="0" rtlCol="0" anchor="t"/>
          <a:lstStyle/>
          <a:p>
            <a:pPr marL="0" indent="0" algn="l">
              <a:lnSpc>
                <a:spcPct val="83000"/>
              </a:lnSpc>
              <a:buNone/>
            </a:pPr>
            <a:r>
              <a:rPr lang="en-US" sz="1800" dirty="0">
                <a:solidFill>
                  <a:srgbClr val="16171D"/>
                </a:solidFill>
                <a:latin typeface="Hanken Grotesk SemiBold" pitchFamily="34" charset="0"/>
                <a:ea typeface="Hanken Grotesk SemiBold" pitchFamily="34" charset="-122"/>
                <a:cs typeface="Hanken Grotesk SemiBold" pitchFamily="34" charset="-120"/>
              </a:rPr>
              <a:t>03</a:t>
            </a:r>
            <a:endParaRPr lang="en-US" sz="1800" dirty="0"/>
          </a:p>
        </p:txBody>
      </p:sp>
      <p:sp>
        <p:nvSpPr>
          <p:cNvPr id="16" name="Shape 14"/>
          <p:cNvSpPr/>
          <p:nvPr/>
        </p:nvSpPr>
        <p:spPr>
          <a:xfrm>
            <a:off x="8305592" y="2111970"/>
            <a:ext cx="3047924" cy="19050"/>
          </a:xfrm>
          <a:prstGeom prst="rect">
            <a:avLst/>
          </a:prstGeom>
          <a:solidFill>
            <a:srgbClr val="FF8424"/>
          </a:solidFill>
          <a:ln/>
        </p:spPr>
      </p:sp>
      <p:sp>
        <p:nvSpPr>
          <p:cNvPr id="17" name="Text 15"/>
          <p:cNvSpPr/>
          <p:nvPr/>
        </p:nvSpPr>
        <p:spPr>
          <a:xfrm>
            <a:off x="8305592" y="2268141"/>
            <a:ext cx="3047924"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Track car availability</a:t>
            </a:r>
            <a:endParaRPr lang="en-US" sz="1900" dirty="0"/>
          </a:p>
        </p:txBody>
      </p:sp>
      <p:sp>
        <p:nvSpPr>
          <p:cNvPr id="18" name="Text 16"/>
          <p:cNvSpPr/>
          <p:nvPr/>
        </p:nvSpPr>
        <p:spPr>
          <a:xfrm>
            <a:off x="8305592" y="2710656"/>
            <a:ext cx="3047924" cy="639961"/>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See which cars are ready to rent.</a:t>
            </a:r>
            <a:endParaRPr lang="en-US" sz="1800" dirty="0"/>
          </a:p>
        </p:txBody>
      </p:sp>
      <p:sp>
        <p:nvSpPr>
          <p:cNvPr id="19" name="Shape 17"/>
          <p:cNvSpPr/>
          <p:nvPr/>
        </p:nvSpPr>
        <p:spPr>
          <a:xfrm>
            <a:off x="609585" y="3909417"/>
            <a:ext cx="3505112" cy="2386707"/>
          </a:xfrm>
          <a:prstGeom prst="rect">
            <a:avLst/>
          </a:prstGeom>
          <a:solidFill>
            <a:srgbClr val="EFEDE6"/>
          </a:solidFill>
          <a:ln/>
        </p:spPr>
      </p:sp>
      <p:sp>
        <p:nvSpPr>
          <p:cNvPr id="20" name="Text 18"/>
          <p:cNvSpPr/>
          <p:nvPr/>
        </p:nvSpPr>
        <p:spPr>
          <a:xfrm>
            <a:off x="838179" y="4163417"/>
            <a:ext cx="865662" cy="228600"/>
          </a:xfrm>
          <a:prstGeom prst="rect">
            <a:avLst/>
          </a:prstGeom>
          <a:noFill/>
          <a:ln/>
        </p:spPr>
        <p:txBody>
          <a:bodyPr wrap="none" lIns="0" tIns="0" rIns="0" bIns="0" rtlCol="0" anchor="t"/>
          <a:lstStyle/>
          <a:p>
            <a:pPr marL="0" indent="0" algn="l">
              <a:lnSpc>
                <a:spcPct val="83000"/>
              </a:lnSpc>
              <a:buNone/>
            </a:pPr>
            <a:r>
              <a:rPr lang="en-US" sz="1800" dirty="0">
                <a:solidFill>
                  <a:srgbClr val="16171D"/>
                </a:solidFill>
                <a:latin typeface="Hanken Grotesk SemiBold" pitchFamily="34" charset="0"/>
                <a:ea typeface="Hanken Grotesk SemiBold" pitchFamily="34" charset="-122"/>
                <a:cs typeface="Hanken Grotesk SemiBold" pitchFamily="34" charset="-120"/>
              </a:rPr>
              <a:t>04</a:t>
            </a:r>
            <a:endParaRPr lang="en-US" sz="1800" dirty="0"/>
          </a:p>
        </p:txBody>
      </p:sp>
      <p:sp>
        <p:nvSpPr>
          <p:cNvPr id="21" name="Shape 19"/>
          <p:cNvSpPr/>
          <p:nvPr/>
        </p:nvSpPr>
        <p:spPr>
          <a:xfrm>
            <a:off x="838179" y="4483497"/>
            <a:ext cx="3047924" cy="19050"/>
          </a:xfrm>
          <a:prstGeom prst="rect">
            <a:avLst/>
          </a:prstGeom>
          <a:solidFill>
            <a:srgbClr val="FF8424"/>
          </a:solidFill>
          <a:ln/>
        </p:spPr>
      </p:sp>
      <p:sp>
        <p:nvSpPr>
          <p:cNvPr id="22" name="Text 20"/>
          <p:cNvSpPr/>
          <p:nvPr/>
        </p:nvSpPr>
        <p:spPr>
          <a:xfrm>
            <a:off x="838179" y="4639667"/>
            <a:ext cx="3047924"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Rent and return vehicles</a:t>
            </a:r>
            <a:endParaRPr lang="en-US" sz="1900" dirty="0"/>
          </a:p>
        </p:txBody>
      </p:sp>
      <p:sp>
        <p:nvSpPr>
          <p:cNvPr id="23" name="Text 21"/>
          <p:cNvSpPr/>
          <p:nvPr/>
        </p:nvSpPr>
        <p:spPr>
          <a:xfrm>
            <a:off x="838179" y="5082183"/>
            <a:ext cx="3047924" cy="639961"/>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Manage each rental from checkout to return.</a:t>
            </a:r>
            <a:endParaRPr lang="en-US" sz="1800" dirty="0"/>
          </a:p>
        </p:txBody>
      </p:sp>
      <p:sp>
        <p:nvSpPr>
          <p:cNvPr id="24" name="Shape 22"/>
          <p:cNvSpPr/>
          <p:nvPr/>
        </p:nvSpPr>
        <p:spPr>
          <a:xfrm>
            <a:off x="4419489" y="3909417"/>
            <a:ext cx="3352716" cy="2386707"/>
          </a:xfrm>
          <a:prstGeom prst="rect">
            <a:avLst/>
          </a:prstGeom>
          <a:solidFill>
            <a:srgbClr val="EFEDE6"/>
          </a:solidFill>
          <a:ln/>
        </p:spPr>
      </p:sp>
      <p:sp>
        <p:nvSpPr>
          <p:cNvPr id="25" name="Text 23"/>
          <p:cNvSpPr/>
          <p:nvPr/>
        </p:nvSpPr>
        <p:spPr>
          <a:xfrm>
            <a:off x="4648084" y="4163417"/>
            <a:ext cx="865662" cy="228600"/>
          </a:xfrm>
          <a:prstGeom prst="rect">
            <a:avLst/>
          </a:prstGeom>
          <a:noFill/>
          <a:ln/>
        </p:spPr>
        <p:txBody>
          <a:bodyPr wrap="none" lIns="0" tIns="0" rIns="0" bIns="0" rtlCol="0" anchor="t"/>
          <a:lstStyle/>
          <a:p>
            <a:pPr marL="0" indent="0" algn="l">
              <a:lnSpc>
                <a:spcPct val="83000"/>
              </a:lnSpc>
              <a:buNone/>
            </a:pPr>
            <a:r>
              <a:rPr lang="en-US" sz="1800" dirty="0">
                <a:solidFill>
                  <a:srgbClr val="16171D"/>
                </a:solidFill>
                <a:latin typeface="Hanken Grotesk SemiBold" pitchFamily="34" charset="0"/>
                <a:ea typeface="Hanken Grotesk SemiBold" pitchFamily="34" charset="-122"/>
                <a:cs typeface="Hanken Grotesk SemiBold" pitchFamily="34" charset="-120"/>
              </a:rPr>
              <a:t>05</a:t>
            </a:r>
            <a:endParaRPr lang="en-US" sz="1800" dirty="0"/>
          </a:p>
        </p:txBody>
      </p:sp>
      <p:sp>
        <p:nvSpPr>
          <p:cNvPr id="26" name="Shape 24"/>
          <p:cNvSpPr/>
          <p:nvPr/>
        </p:nvSpPr>
        <p:spPr>
          <a:xfrm>
            <a:off x="4648084" y="4483497"/>
            <a:ext cx="2895528" cy="19050"/>
          </a:xfrm>
          <a:prstGeom prst="rect">
            <a:avLst/>
          </a:prstGeom>
          <a:solidFill>
            <a:srgbClr val="FF8424"/>
          </a:solidFill>
          <a:ln/>
        </p:spPr>
      </p:sp>
      <p:sp>
        <p:nvSpPr>
          <p:cNvPr id="27" name="Text 25"/>
          <p:cNvSpPr/>
          <p:nvPr/>
        </p:nvSpPr>
        <p:spPr>
          <a:xfrm>
            <a:off x="4648084" y="4639667"/>
            <a:ext cx="2895528"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Calculate rental costs</a:t>
            </a:r>
            <a:endParaRPr lang="en-US" sz="1900" dirty="0"/>
          </a:p>
        </p:txBody>
      </p:sp>
      <p:sp>
        <p:nvSpPr>
          <p:cNvPr id="28" name="Text 26"/>
          <p:cNvSpPr/>
          <p:nvPr/>
        </p:nvSpPr>
        <p:spPr>
          <a:xfrm>
            <a:off x="4648084" y="5082183"/>
            <a:ext cx="2895528" cy="639961"/>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Generate accurate charges for every rental.</a:t>
            </a:r>
            <a:endParaRPr lang="en-US" sz="1800" dirty="0"/>
          </a:p>
        </p:txBody>
      </p:sp>
      <p:sp>
        <p:nvSpPr>
          <p:cNvPr id="29" name="Shape 27"/>
          <p:cNvSpPr/>
          <p:nvPr/>
        </p:nvSpPr>
        <p:spPr>
          <a:xfrm>
            <a:off x="8076998" y="3909417"/>
            <a:ext cx="3505112" cy="2386707"/>
          </a:xfrm>
          <a:prstGeom prst="rect">
            <a:avLst/>
          </a:prstGeom>
          <a:solidFill>
            <a:srgbClr val="EFEDE6"/>
          </a:solidFill>
          <a:ln/>
        </p:spPr>
      </p:sp>
      <p:sp>
        <p:nvSpPr>
          <p:cNvPr id="30" name="Text 28"/>
          <p:cNvSpPr/>
          <p:nvPr/>
        </p:nvSpPr>
        <p:spPr>
          <a:xfrm>
            <a:off x="8305592" y="4163417"/>
            <a:ext cx="865662" cy="228600"/>
          </a:xfrm>
          <a:prstGeom prst="rect">
            <a:avLst/>
          </a:prstGeom>
          <a:noFill/>
          <a:ln/>
        </p:spPr>
        <p:txBody>
          <a:bodyPr wrap="none" lIns="0" tIns="0" rIns="0" bIns="0" rtlCol="0" anchor="t"/>
          <a:lstStyle/>
          <a:p>
            <a:pPr marL="0" indent="0" algn="l">
              <a:lnSpc>
                <a:spcPct val="83000"/>
              </a:lnSpc>
              <a:buNone/>
            </a:pPr>
            <a:r>
              <a:rPr lang="en-US" sz="1800" dirty="0">
                <a:solidFill>
                  <a:srgbClr val="16171D"/>
                </a:solidFill>
                <a:latin typeface="Hanken Grotesk SemiBold" pitchFamily="34" charset="0"/>
                <a:ea typeface="Hanken Grotesk SemiBold" pitchFamily="34" charset="-122"/>
                <a:cs typeface="Hanken Grotesk SemiBold" pitchFamily="34" charset="-120"/>
              </a:rPr>
              <a:t>06</a:t>
            </a:r>
            <a:endParaRPr lang="en-US" sz="1800" dirty="0"/>
          </a:p>
        </p:txBody>
      </p:sp>
      <p:sp>
        <p:nvSpPr>
          <p:cNvPr id="31" name="Shape 29"/>
          <p:cNvSpPr/>
          <p:nvPr/>
        </p:nvSpPr>
        <p:spPr>
          <a:xfrm>
            <a:off x="8305592" y="4483497"/>
            <a:ext cx="3047924" cy="19050"/>
          </a:xfrm>
          <a:prstGeom prst="rect">
            <a:avLst/>
          </a:prstGeom>
          <a:solidFill>
            <a:srgbClr val="FF8424"/>
          </a:solidFill>
          <a:ln/>
        </p:spPr>
      </p:sp>
      <p:sp>
        <p:nvSpPr>
          <p:cNvPr id="32" name="Text 30"/>
          <p:cNvSpPr/>
          <p:nvPr/>
        </p:nvSpPr>
        <p:spPr>
          <a:xfrm>
            <a:off x="8305592" y="4639667"/>
            <a:ext cx="3047924"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Update Vehicle Status</a:t>
            </a:r>
            <a:endParaRPr lang="en-US" sz="1900" dirty="0"/>
          </a:p>
        </p:txBody>
      </p:sp>
      <p:sp>
        <p:nvSpPr>
          <p:cNvPr id="33" name="Text 31"/>
          <p:cNvSpPr/>
          <p:nvPr/>
        </p:nvSpPr>
        <p:spPr>
          <a:xfrm>
            <a:off x="8305592" y="5082183"/>
            <a:ext cx="3047924" cy="959941"/>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Automatically update a car’s availability after renting or returning it.</a:t>
            </a:r>
            <a:endParaRPr lang="en-US" sz="1800" dirty="0"/>
          </a:p>
        </p:txBody>
      </p:sp>
      <p:pic>
        <p:nvPicPr>
          <p:cNvPr id="34" name="Image 0" descr="preencoded.png"/>
          <p:cNvPicPr>
            <a:picLocks noChangeAspect="1"/>
          </p:cNvPicPr>
          <p:nvPr/>
        </p:nvPicPr>
        <p:blipFill>
          <a:blip r:embed="rId3"/>
          <a:stretch>
            <a:fillRect/>
          </a:stretch>
        </p:blipFill>
        <p:spPr>
          <a:xfrm>
            <a:off x="11139903" y="0"/>
            <a:ext cx="1051692" cy="438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908627" cy="6858000"/>
          </a:xfrm>
          <a:prstGeom prst="rect">
            <a:avLst/>
          </a:prstGeom>
        </p:spPr>
      </p:pic>
      <p:sp>
        <p:nvSpPr>
          <p:cNvPr id="3" name="Shape 0"/>
          <p:cNvSpPr/>
          <p:nvPr/>
        </p:nvSpPr>
        <p:spPr>
          <a:xfrm>
            <a:off x="6908627" y="0"/>
            <a:ext cx="5283068" cy="6858000"/>
          </a:xfrm>
          <a:prstGeom prst="rect">
            <a:avLst/>
          </a:prstGeom>
          <a:solidFill>
            <a:srgbClr val="FF8424"/>
          </a:solidFill>
          <a:ln/>
        </p:spPr>
      </p:sp>
      <p:sp>
        <p:nvSpPr>
          <p:cNvPr id="4" name="Text 1"/>
          <p:cNvSpPr/>
          <p:nvPr/>
        </p:nvSpPr>
        <p:spPr>
          <a:xfrm>
            <a:off x="7365816" y="558800"/>
            <a:ext cx="4825879"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000000"/>
                </a:solidFill>
                <a:latin typeface="Red Hat Mono Medium" pitchFamily="34" charset="0"/>
                <a:ea typeface="Red Hat Mono Medium" pitchFamily="34" charset="-122"/>
                <a:cs typeface="Red Hat Mono Medium" pitchFamily="34" charset="-120"/>
              </a:rPr>
              <a:t>03 · JAVA IMPLEMENTATION</a:t>
            </a:r>
            <a:endParaRPr lang="en-US" sz="1300" dirty="0"/>
          </a:p>
        </p:txBody>
      </p:sp>
      <p:sp>
        <p:nvSpPr>
          <p:cNvPr id="5" name="Text 2"/>
          <p:cNvSpPr/>
          <p:nvPr/>
        </p:nvSpPr>
        <p:spPr>
          <a:xfrm>
            <a:off x="7365816" y="3532188"/>
            <a:ext cx="4317892" cy="1308596"/>
          </a:xfrm>
          <a:prstGeom prst="rect">
            <a:avLst/>
          </a:prstGeom>
          <a:noFill/>
          <a:ln/>
        </p:spPr>
        <p:txBody>
          <a:bodyPr wrap="none" lIns="0" tIns="0" rIns="0" bIns="0" rtlCol="0" anchor="t"/>
          <a:lstStyle/>
          <a:p>
            <a:pPr marL="0" indent="0" algn="l">
              <a:lnSpc>
                <a:spcPct val="77000"/>
              </a:lnSpc>
              <a:buNone/>
            </a:pPr>
            <a:r>
              <a:rPr lang="en-US" sz="11200" dirty="0">
                <a:solidFill>
                  <a:srgbClr val="000000"/>
                </a:solidFill>
                <a:latin typeface="Big Shoulders ExtraBold" pitchFamily="34" charset="0"/>
                <a:ea typeface="Big Shoulders ExtraBold" pitchFamily="34" charset="-122"/>
                <a:cs typeface="Big Shoulders ExtraBold" pitchFamily="34" charset="-120"/>
              </a:rPr>
              <a:t>03</a:t>
            </a:r>
            <a:endParaRPr lang="en-US" sz="11200" dirty="0"/>
          </a:p>
        </p:txBody>
      </p:sp>
      <p:sp>
        <p:nvSpPr>
          <p:cNvPr id="6" name="Text 3"/>
          <p:cNvSpPr/>
          <p:nvPr/>
        </p:nvSpPr>
        <p:spPr>
          <a:xfrm>
            <a:off x="7365816" y="5047159"/>
            <a:ext cx="4317892" cy="434280"/>
          </a:xfrm>
          <a:prstGeom prst="rect">
            <a:avLst/>
          </a:prstGeom>
          <a:noFill/>
          <a:ln/>
        </p:spPr>
        <p:txBody>
          <a:bodyPr wrap="none" lIns="0" tIns="0" rIns="0" bIns="0" rtlCol="0" anchor="t"/>
          <a:lstStyle/>
          <a:p>
            <a:pPr marL="0" indent="0" algn="l">
              <a:lnSpc>
                <a:spcPct val="79000"/>
              </a:lnSpc>
              <a:buNone/>
            </a:pPr>
            <a:r>
              <a:rPr lang="en-US" sz="3600" kern="100" spc="18" dirty="0">
                <a:solidFill>
                  <a:srgbClr val="000000"/>
                </a:solidFill>
                <a:latin typeface="Big Shoulders ExtraBold" pitchFamily="34" charset="0"/>
                <a:ea typeface="Big Shoulders ExtraBold" pitchFamily="34" charset="-122"/>
                <a:cs typeface="Big Shoulders ExtraBold" pitchFamily="34" charset="-120"/>
              </a:rPr>
              <a:t>JAVA IMPLEMENTATION</a:t>
            </a:r>
            <a:endParaRPr lang="en-US" sz="3600" dirty="0"/>
          </a:p>
        </p:txBody>
      </p:sp>
      <p:sp>
        <p:nvSpPr>
          <p:cNvPr id="7" name="Text 4"/>
          <p:cNvSpPr/>
          <p:nvPr/>
        </p:nvSpPr>
        <p:spPr>
          <a:xfrm>
            <a:off x="7365816" y="5710039"/>
            <a:ext cx="4317892" cy="639961"/>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000000"/>
                </a:solidFill>
                <a:latin typeface="Hanken Grotesk" pitchFamily="34" charset="0"/>
                <a:ea typeface="Hanken Grotesk" pitchFamily="34" charset="-122"/>
                <a:cs typeface="Hanken Grotesk" pitchFamily="34" charset="-120"/>
              </a:rPr>
              <a:t>Java Concepts Used in Rental Car Fleet Manager</a:t>
            </a:r>
            <a:endParaRPr lang="en-US" sz="1800" dirty="0"/>
          </a:p>
        </p:txBody>
      </p:sp>
      <p:pic>
        <p:nvPicPr>
          <p:cNvPr id="8" name="Image 1" descr="preencoded.png"/>
          <p:cNvPicPr>
            <a:picLocks noChangeAspect="1"/>
          </p:cNvPicPr>
          <p:nvPr/>
        </p:nvPicPr>
        <p:blipFill>
          <a:blip r:embed="rId4"/>
          <a:stretch>
            <a:fillRect/>
          </a:stretch>
        </p:blipFill>
        <p:spPr>
          <a:xfrm>
            <a:off x="11197846" y="0"/>
            <a:ext cx="993750" cy="414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508000"/>
            <a:ext cx="11582110"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16171D"/>
                </a:solidFill>
                <a:latin typeface="Red Hat Mono Medium" pitchFamily="34" charset="0"/>
                <a:ea typeface="Red Hat Mono Medium" pitchFamily="34" charset="-122"/>
                <a:cs typeface="Red Hat Mono Medium" pitchFamily="34" charset="-120"/>
              </a:rPr>
              <a:t>JAVA IMPLEMENTATION</a:t>
            </a:r>
            <a:endParaRPr lang="en-US" sz="1300" dirty="0"/>
          </a:p>
        </p:txBody>
      </p:sp>
      <p:sp>
        <p:nvSpPr>
          <p:cNvPr id="3" name="Text 1"/>
          <p:cNvSpPr/>
          <p:nvPr/>
        </p:nvSpPr>
        <p:spPr>
          <a:xfrm>
            <a:off x="609585" y="806450"/>
            <a:ext cx="10972526" cy="579041"/>
          </a:xfrm>
          <a:prstGeom prst="rect">
            <a:avLst/>
          </a:prstGeom>
          <a:noFill/>
          <a:ln/>
        </p:spPr>
        <p:txBody>
          <a:bodyPr wrap="none" lIns="0" tIns="0" rIns="0" bIns="0" rtlCol="0" anchor="t"/>
          <a:lstStyle/>
          <a:p>
            <a:pPr marL="0" indent="0" algn="l">
              <a:lnSpc>
                <a:spcPct val="79000"/>
              </a:lnSpc>
              <a:buNone/>
            </a:pPr>
            <a:r>
              <a:rPr lang="en-US" sz="4800" kern="100" spc="24" dirty="0">
                <a:solidFill>
                  <a:srgbClr val="16171D"/>
                </a:solidFill>
                <a:latin typeface="Big Shoulders ExtraBold" pitchFamily="34" charset="0"/>
                <a:ea typeface="Big Shoulders ExtraBold" pitchFamily="34" charset="-122"/>
                <a:cs typeface="Big Shoulders ExtraBold" pitchFamily="34" charset="-120"/>
              </a:rPr>
              <a:t>JAVA CONCEPTS USED — CO1, CO2 &amp; CO3</a:t>
            </a:r>
            <a:endParaRPr lang="en-US" sz="4800" dirty="0"/>
          </a:p>
        </p:txBody>
      </p:sp>
      <p:sp>
        <p:nvSpPr>
          <p:cNvPr id="4" name="Shape 2"/>
          <p:cNvSpPr/>
          <p:nvPr/>
        </p:nvSpPr>
        <p:spPr>
          <a:xfrm>
            <a:off x="609585" y="1701800"/>
            <a:ext cx="3454314" cy="4851400"/>
          </a:xfrm>
          <a:prstGeom prst="rect">
            <a:avLst/>
          </a:prstGeom>
          <a:solidFill>
            <a:srgbClr val="FF8424"/>
          </a:solidFill>
          <a:ln/>
        </p:spPr>
      </p:sp>
      <p:sp>
        <p:nvSpPr>
          <p:cNvPr id="5" name="Shape 3"/>
          <p:cNvSpPr/>
          <p:nvPr/>
        </p:nvSpPr>
        <p:spPr>
          <a:xfrm>
            <a:off x="838179" y="1930400"/>
            <a:ext cx="608890" cy="365621"/>
          </a:xfrm>
          <a:prstGeom prst="roundRect">
            <a:avLst>
              <a:gd name="adj" fmla="val 3126"/>
            </a:avLst>
          </a:prstGeom>
          <a:solidFill>
            <a:srgbClr val="FFE2CC"/>
          </a:solidFill>
          <a:ln/>
        </p:spPr>
      </p:sp>
      <p:sp>
        <p:nvSpPr>
          <p:cNvPr id="6" name="Text 4"/>
          <p:cNvSpPr/>
          <p:nvPr/>
        </p:nvSpPr>
        <p:spPr>
          <a:xfrm>
            <a:off x="975296" y="1998960"/>
            <a:ext cx="944241" cy="228501"/>
          </a:xfrm>
          <a:prstGeom prst="rect">
            <a:avLst/>
          </a:prstGeom>
          <a:noFill/>
          <a:ln/>
        </p:spPr>
        <p:txBody>
          <a:bodyPr wrap="none" lIns="0" tIns="0" rIns="0" bIns="0" rtlCol="0" anchor="t"/>
          <a:lstStyle/>
          <a:p>
            <a:pPr marL="0" indent="0" algn="l">
              <a:lnSpc>
                <a:spcPct val="104000"/>
              </a:lnSpc>
              <a:buNone/>
            </a:pPr>
            <a:r>
              <a:rPr lang="en-US" sz="1450" kern="100" spc="14" dirty="0">
                <a:solidFill>
                  <a:srgbClr val="16171D"/>
                </a:solidFill>
                <a:latin typeface="Red Hat Mono Medium" pitchFamily="34" charset="0"/>
                <a:ea typeface="Red Hat Mono Medium" pitchFamily="34" charset="-122"/>
                <a:cs typeface="Red Hat Mono Medium" pitchFamily="34" charset="-120"/>
              </a:rPr>
              <a:t>CO1</a:t>
            </a:r>
            <a:endParaRPr lang="en-US" sz="1450" dirty="0"/>
          </a:p>
        </p:txBody>
      </p:sp>
      <p:sp>
        <p:nvSpPr>
          <p:cNvPr id="7" name="Text 5"/>
          <p:cNvSpPr/>
          <p:nvPr/>
        </p:nvSpPr>
        <p:spPr>
          <a:xfrm>
            <a:off x="838179" y="2388096"/>
            <a:ext cx="2997125" cy="642541"/>
          </a:xfrm>
          <a:prstGeom prst="rect">
            <a:avLst/>
          </a:prstGeom>
          <a:noFill/>
          <a:ln/>
        </p:spPr>
        <p:txBody>
          <a:bodyPr wrap="square" lIns="0" tIns="0" rIns="0" bIns="0" rtlCol="0" anchor="t">
            <a:normAutofit/>
          </a:bodyPr>
          <a:lstStyle/>
          <a:p>
            <a:pPr marL="0" indent="0" algn="l">
              <a:lnSpc>
                <a:spcPct val="96000"/>
              </a:lnSpc>
              <a:buNone/>
            </a:pPr>
            <a:r>
              <a:rPr lang="en-US" sz="2200" b="1" kern="100" spc="-11" dirty="0">
                <a:solidFill>
                  <a:srgbClr val="000000"/>
                </a:solidFill>
                <a:latin typeface="Hanken Grotesk Bold" pitchFamily="34" charset="0"/>
                <a:ea typeface="Hanken Grotesk Bold" pitchFamily="34" charset="-122"/>
                <a:cs typeface="Hanken Grotesk Bold" pitchFamily="34" charset="-120"/>
              </a:rPr>
              <a:t>Programming Fundamentals</a:t>
            </a:r>
            <a:endParaRPr lang="en-US" sz="2200" dirty="0"/>
          </a:p>
        </p:txBody>
      </p:sp>
      <p:sp>
        <p:nvSpPr>
          <p:cNvPr id="8" name="Text 6"/>
          <p:cNvSpPr/>
          <p:nvPr/>
        </p:nvSpPr>
        <p:spPr>
          <a:xfrm>
            <a:off x="838179" y="3195737"/>
            <a:ext cx="2997125" cy="1394222"/>
          </a:xfrm>
          <a:prstGeom prst="rect">
            <a:avLst/>
          </a:prstGeom>
          <a:noFill/>
          <a:ln/>
        </p:spPr>
        <p:txBody>
          <a:bodyPr wrap="square" lIns="0" tIns="0" rIns="0" bIns="0" rtlCol="0" anchor="t">
            <a:normAutofit/>
          </a:bodyPr>
          <a:lstStyle/>
          <a:p>
            <a:pPr marL="365760" indent="-365760" algn="l">
              <a:lnSpc>
                <a:spcPct val="117000"/>
              </a:lnSpc>
              <a:buSzPct val="100000"/>
              <a:buChar char="•"/>
            </a:pPr>
            <a:r>
              <a:rPr lang="en-US" sz="1800" dirty="0">
                <a:solidFill>
                  <a:srgbClr val="000000"/>
                </a:solidFill>
                <a:latin typeface="Hanken Grotesk" pitchFamily="34" charset="0"/>
                <a:ea typeface="Hanken Grotesk" pitchFamily="34" charset="-122"/>
                <a:cs typeface="Hanken Grotesk" pitchFamily="34" charset="-120"/>
              </a:rPr>
              <a:t>Data Types — int, double, String, boolean</a:t>
            </a:r>
            <a:endParaRPr lang="en-US" sz="1800" dirty="0"/>
          </a:p>
          <a:p>
            <a:pPr marL="365760" indent="-365760" algn="l">
              <a:lnSpc>
                <a:spcPct val="117000"/>
              </a:lnSpc>
              <a:buSzPct val="100000"/>
              <a:buChar char="•"/>
            </a:pPr>
            <a:r>
              <a:rPr lang="en-US" sz="1800" dirty="0">
                <a:solidFill>
                  <a:srgbClr val="000000"/>
                </a:solidFill>
                <a:latin typeface="Hanken Grotesk" pitchFamily="34" charset="0"/>
                <a:ea typeface="Hanken Grotesk" pitchFamily="34" charset="-122"/>
                <a:cs typeface="Hanken Grotesk" pitchFamily="34" charset="-120"/>
              </a:rPr>
              <a:t>Algorithm</a:t>
            </a:r>
            <a:endParaRPr lang="en-US" sz="1800" dirty="0"/>
          </a:p>
          <a:p>
            <a:pPr marL="365760" indent="-365760" algn="l">
              <a:lnSpc>
                <a:spcPct val="117000"/>
              </a:lnSpc>
              <a:buSzPct val="100000"/>
              <a:buChar char="•"/>
            </a:pPr>
            <a:r>
              <a:rPr lang="en-US" sz="1800" dirty="0">
                <a:solidFill>
                  <a:srgbClr val="000000"/>
                </a:solidFill>
                <a:latin typeface="Hanken Grotesk" pitchFamily="34" charset="0"/>
                <a:ea typeface="Hanken Grotesk" pitchFamily="34" charset="-122"/>
                <a:cs typeface="Hanken Grotesk" pitchFamily="34" charset="-120"/>
              </a:rPr>
              <a:t>Flowchart</a:t>
            </a:r>
            <a:endParaRPr lang="en-US" sz="1800" dirty="0"/>
          </a:p>
        </p:txBody>
      </p:sp>
      <p:sp>
        <p:nvSpPr>
          <p:cNvPr id="9" name="Shape 7"/>
          <p:cNvSpPr/>
          <p:nvPr/>
        </p:nvSpPr>
        <p:spPr>
          <a:xfrm>
            <a:off x="4368691" y="1701800"/>
            <a:ext cx="3454314" cy="4851400"/>
          </a:xfrm>
          <a:prstGeom prst="rect">
            <a:avLst/>
          </a:prstGeom>
          <a:solidFill>
            <a:srgbClr val="EFEDE6"/>
          </a:solidFill>
          <a:ln/>
        </p:spPr>
      </p:sp>
      <p:sp>
        <p:nvSpPr>
          <p:cNvPr id="10" name="Shape 8"/>
          <p:cNvSpPr/>
          <p:nvPr/>
        </p:nvSpPr>
        <p:spPr>
          <a:xfrm>
            <a:off x="4597285" y="1930400"/>
            <a:ext cx="608890" cy="365621"/>
          </a:xfrm>
          <a:prstGeom prst="roundRect">
            <a:avLst>
              <a:gd name="adj" fmla="val 3126"/>
            </a:avLst>
          </a:prstGeom>
          <a:noFill/>
          <a:ln w="6350">
            <a:solidFill>
              <a:srgbClr val="16171D"/>
            </a:solidFill>
            <a:prstDash val="solid"/>
          </a:ln>
        </p:spPr>
      </p:sp>
      <p:sp>
        <p:nvSpPr>
          <p:cNvPr id="11" name="Text 9"/>
          <p:cNvSpPr/>
          <p:nvPr/>
        </p:nvSpPr>
        <p:spPr>
          <a:xfrm>
            <a:off x="4734402" y="1998960"/>
            <a:ext cx="944241" cy="228501"/>
          </a:xfrm>
          <a:prstGeom prst="rect">
            <a:avLst/>
          </a:prstGeom>
          <a:noFill/>
          <a:ln/>
        </p:spPr>
        <p:txBody>
          <a:bodyPr wrap="none" lIns="0" tIns="0" rIns="0" bIns="0" rtlCol="0" anchor="t"/>
          <a:lstStyle/>
          <a:p>
            <a:pPr marL="0" indent="0" algn="l">
              <a:lnSpc>
                <a:spcPct val="104000"/>
              </a:lnSpc>
              <a:buNone/>
            </a:pPr>
            <a:r>
              <a:rPr lang="en-US" sz="1450" kern="100" spc="14" dirty="0">
                <a:solidFill>
                  <a:srgbClr val="16171D"/>
                </a:solidFill>
                <a:latin typeface="Red Hat Mono Medium" pitchFamily="34" charset="0"/>
                <a:ea typeface="Red Hat Mono Medium" pitchFamily="34" charset="-122"/>
                <a:cs typeface="Red Hat Mono Medium" pitchFamily="34" charset="-120"/>
              </a:rPr>
              <a:t>CO2</a:t>
            </a:r>
            <a:endParaRPr lang="en-US" sz="1450" dirty="0"/>
          </a:p>
        </p:txBody>
      </p:sp>
      <p:sp>
        <p:nvSpPr>
          <p:cNvPr id="12" name="Text 10"/>
          <p:cNvSpPr/>
          <p:nvPr/>
        </p:nvSpPr>
        <p:spPr>
          <a:xfrm>
            <a:off x="4597285" y="2388096"/>
            <a:ext cx="2997125"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Hanken Grotesk Bold" pitchFamily="34" charset="0"/>
                <a:ea typeface="Hanken Grotesk Bold" pitchFamily="34" charset="-122"/>
                <a:cs typeface="Hanken Grotesk Bold" pitchFamily="34" charset="-120"/>
              </a:rPr>
              <a:t>Control Structures</a:t>
            </a:r>
            <a:endParaRPr lang="en-US" sz="2200" dirty="0"/>
          </a:p>
        </p:txBody>
      </p:sp>
      <p:sp>
        <p:nvSpPr>
          <p:cNvPr id="13" name="Text 11"/>
          <p:cNvSpPr/>
          <p:nvPr/>
        </p:nvSpPr>
        <p:spPr>
          <a:xfrm>
            <a:off x="4597285" y="2874466"/>
            <a:ext cx="2997125" cy="2148483"/>
          </a:xfrm>
          <a:prstGeom prst="rect">
            <a:avLst/>
          </a:prstGeom>
          <a:noFill/>
          <a:ln/>
        </p:spPr>
        <p:txBody>
          <a:bodyPr wrap="square" lIns="0" tIns="0" rIns="0" bIns="0" rtlCol="0" anchor="t">
            <a:normAutofit/>
          </a:bodyPr>
          <a:lstStyle/>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if-else / else-if</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for loop</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do-while loop</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Relational and logical operators</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switch statement</a:t>
            </a:r>
            <a:endParaRPr lang="en-US" sz="1800" dirty="0"/>
          </a:p>
        </p:txBody>
      </p:sp>
      <p:sp>
        <p:nvSpPr>
          <p:cNvPr id="14" name="Shape 12"/>
          <p:cNvSpPr/>
          <p:nvPr/>
        </p:nvSpPr>
        <p:spPr>
          <a:xfrm>
            <a:off x="8127797" y="1701800"/>
            <a:ext cx="3454314" cy="4851400"/>
          </a:xfrm>
          <a:prstGeom prst="rect">
            <a:avLst/>
          </a:prstGeom>
          <a:solidFill>
            <a:srgbClr val="EFEDE6"/>
          </a:solidFill>
          <a:ln/>
        </p:spPr>
      </p:sp>
      <p:sp>
        <p:nvSpPr>
          <p:cNvPr id="15" name="Shape 13"/>
          <p:cNvSpPr/>
          <p:nvPr/>
        </p:nvSpPr>
        <p:spPr>
          <a:xfrm>
            <a:off x="8356391" y="1930400"/>
            <a:ext cx="608890" cy="365621"/>
          </a:xfrm>
          <a:prstGeom prst="roundRect">
            <a:avLst>
              <a:gd name="adj" fmla="val 3126"/>
            </a:avLst>
          </a:prstGeom>
          <a:noFill/>
          <a:ln w="6350">
            <a:solidFill>
              <a:srgbClr val="16171D"/>
            </a:solidFill>
            <a:prstDash val="solid"/>
          </a:ln>
        </p:spPr>
      </p:sp>
      <p:sp>
        <p:nvSpPr>
          <p:cNvPr id="16" name="Text 14"/>
          <p:cNvSpPr/>
          <p:nvPr/>
        </p:nvSpPr>
        <p:spPr>
          <a:xfrm>
            <a:off x="8493508" y="1998960"/>
            <a:ext cx="944241" cy="228501"/>
          </a:xfrm>
          <a:prstGeom prst="rect">
            <a:avLst/>
          </a:prstGeom>
          <a:noFill/>
          <a:ln/>
        </p:spPr>
        <p:txBody>
          <a:bodyPr wrap="none" lIns="0" tIns="0" rIns="0" bIns="0" rtlCol="0" anchor="t"/>
          <a:lstStyle/>
          <a:p>
            <a:pPr marL="0" indent="0" algn="l">
              <a:lnSpc>
                <a:spcPct val="104000"/>
              </a:lnSpc>
              <a:buNone/>
            </a:pPr>
            <a:r>
              <a:rPr lang="en-US" sz="1450" kern="100" spc="14" dirty="0">
                <a:solidFill>
                  <a:srgbClr val="16171D"/>
                </a:solidFill>
                <a:latin typeface="Red Hat Mono Medium" pitchFamily="34" charset="0"/>
                <a:ea typeface="Red Hat Mono Medium" pitchFamily="34" charset="-122"/>
                <a:cs typeface="Red Hat Mono Medium" pitchFamily="34" charset="-120"/>
              </a:rPr>
              <a:t>CO3</a:t>
            </a:r>
            <a:endParaRPr lang="en-US" sz="1450" dirty="0"/>
          </a:p>
        </p:txBody>
      </p:sp>
      <p:sp>
        <p:nvSpPr>
          <p:cNvPr id="17" name="Text 15"/>
          <p:cNvSpPr/>
          <p:nvPr/>
        </p:nvSpPr>
        <p:spPr>
          <a:xfrm>
            <a:off x="8356391" y="2388096"/>
            <a:ext cx="2997125"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Hanken Grotesk Bold" pitchFamily="34" charset="0"/>
                <a:ea typeface="Hanken Grotesk Bold" pitchFamily="34" charset="-122"/>
                <a:cs typeface="Hanken Grotesk Bold" pitchFamily="34" charset="-120"/>
              </a:rPr>
              <a:t>Methods &amp; Arrays</a:t>
            </a:r>
            <a:endParaRPr lang="en-US" sz="2200" dirty="0"/>
          </a:p>
        </p:txBody>
      </p:sp>
      <p:sp>
        <p:nvSpPr>
          <p:cNvPr id="18" name="Text 16"/>
          <p:cNvSpPr/>
          <p:nvPr/>
        </p:nvSpPr>
        <p:spPr>
          <a:xfrm>
            <a:off x="8356391" y="2874466"/>
            <a:ext cx="2997125" cy="1394222"/>
          </a:xfrm>
          <a:prstGeom prst="rect">
            <a:avLst/>
          </a:prstGeom>
          <a:noFill/>
          <a:ln/>
        </p:spPr>
        <p:txBody>
          <a:bodyPr wrap="square" lIns="0" tIns="0" rIns="0" bIns="0" rtlCol="0" anchor="t">
            <a:normAutofit/>
          </a:bodyPr>
          <a:lstStyle/>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User-defined methods</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1D arrays</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Passing arrays to methods</a:t>
            </a:r>
            <a:endParaRPr lang="en-US" sz="1800" dirty="0"/>
          </a:p>
        </p:txBody>
      </p:sp>
      <p:pic>
        <p:nvPicPr>
          <p:cNvPr id="19" name="Image 0" descr="preencoded.png"/>
          <p:cNvPicPr>
            <a:picLocks noChangeAspect="1"/>
          </p:cNvPicPr>
          <p:nvPr/>
        </p:nvPicPr>
        <p:blipFill>
          <a:blip r:embed="rId3"/>
          <a:stretch>
            <a:fillRect/>
          </a:stretch>
        </p:blipFill>
        <p:spPr>
          <a:xfrm>
            <a:off x="11139903" y="0"/>
            <a:ext cx="1051692" cy="4381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502237" cy="6858000"/>
          </a:xfrm>
          <a:prstGeom prst="rect">
            <a:avLst/>
          </a:prstGeom>
        </p:spPr>
      </p:pic>
      <p:sp>
        <p:nvSpPr>
          <p:cNvPr id="3" name="Shape 0"/>
          <p:cNvSpPr/>
          <p:nvPr/>
        </p:nvSpPr>
        <p:spPr>
          <a:xfrm>
            <a:off x="6502237" y="0"/>
            <a:ext cx="5689458" cy="6858000"/>
          </a:xfrm>
          <a:prstGeom prst="rect">
            <a:avLst/>
          </a:prstGeom>
          <a:solidFill>
            <a:srgbClr val="FF8424"/>
          </a:solidFill>
          <a:ln/>
        </p:spPr>
      </p:sp>
      <p:sp>
        <p:nvSpPr>
          <p:cNvPr id="4" name="Text 1"/>
          <p:cNvSpPr/>
          <p:nvPr/>
        </p:nvSpPr>
        <p:spPr>
          <a:xfrm>
            <a:off x="6959426" y="558800"/>
            <a:ext cx="5232269"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000000"/>
                </a:solidFill>
                <a:latin typeface="Red Hat Mono Medium" pitchFamily="34" charset="0"/>
                <a:ea typeface="Red Hat Mono Medium" pitchFamily="34" charset="-122"/>
                <a:cs typeface="Red Hat Mono Medium" pitchFamily="34" charset="-120"/>
              </a:rPr>
              <a:t>04 · SYSTEM WORKFLOW</a:t>
            </a:r>
            <a:endParaRPr lang="en-US" sz="1300" dirty="0"/>
          </a:p>
        </p:txBody>
      </p:sp>
      <p:sp>
        <p:nvSpPr>
          <p:cNvPr id="5" name="Text 2"/>
          <p:cNvSpPr/>
          <p:nvPr/>
        </p:nvSpPr>
        <p:spPr>
          <a:xfrm>
            <a:off x="6959426" y="3852168"/>
            <a:ext cx="4724282" cy="1308596"/>
          </a:xfrm>
          <a:prstGeom prst="rect">
            <a:avLst/>
          </a:prstGeom>
          <a:noFill/>
          <a:ln/>
        </p:spPr>
        <p:txBody>
          <a:bodyPr wrap="none" lIns="0" tIns="0" rIns="0" bIns="0" rtlCol="0" anchor="t"/>
          <a:lstStyle/>
          <a:p>
            <a:pPr marL="0" indent="0" algn="l">
              <a:lnSpc>
                <a:spcPct val="77000"/>
              </a:lnSpc>
              <a:buNone/>
            </a:pPr>
            <a:r>
              <a:rPr lang="en-US" sz="11200" dirty="0">
                <a:solidFill>
                  <a:srgbClr val="000000"/>
                </a:solidFill>
                <a:latin typeface="Big Shoulders ExtraBold" pitchFamily="34" charset="0"/>
                <a:ea typeface="Big Shoulders ExtraBold" pitchFamily="34" charset="-122"/>
                <a:cs typeface="Big Shoulders ExtraBold" pitchFamily="34" charset="-120"/>
              </a:rPr>
              <a:t>04</a:t>
            </a:r>
            <a:endParaRPr lang="en-US" sz="11200" dirty="0"/>
          </a:p>
        </p:txBody>
      </p:sp>
      <p:sp>
        <p:nvSpPr>
          <p:cNvPr id="6" name="Text 3"/>
          <p:cNvSpPr/>
          <p:nvPr/>
        </p:nvSpPr>
        <p:spPr>
          <a:xfrm>
            <a:off x="6959426" y="5367139"/>
            <a:ext cx="4724282" cy="434280"/>
          </a:xfrm>
          <a:prstGeom prst="rect">
            <a:avLst/>
          </a:prstGeom>
          <a:noFill/>
          <a:ln/>
        </p:spPr>
        <p:txBody>
          <a:bodyPr wrap="none" lIns="0" tIns="0" rIns="0" bIns="0" rtlCol="0" anchor="t"/>
          <a:lstStyle/>
          <a:p>
            <a:pPr marL="0" indent="0" algn="l">
              <a:lnSpc>
                <a:spcPct val="79000"/>
              </a:lnSpc>
              <a:buNone/>
            </a:pPr>
            <a:r>
              <a:rPr lang="en-US" sz="3600" kern="100" spc="18" dirty="0">
                <a:solidFill>
                  <a:srgbClr val="000000"/>
                </a:solidFill>
                <a:latin typeface="Big Shoulders ExtraBold" pitchFamily="34" charset="0"/>
                <a:ea typeface="Big Shoulders ExtraBold" pitchFamily="34" charset="-122"/>
                <a:cs typeface="Big Shoulders ExtraBold" pitchFamily="34" charset="-120"/>
              </a:rPr>
              <a:t>SYSTEM WORKFLOW</a:t>
            </a:r>
            <a:endParaRPr lang="en-US" sz="3600" dirty="0"/>
          </a:p>
        </p:txBody>
      </p:sp>
      <p:sp>
        <p:nvSpPr>
          <p:cNvPr id="7" name="Text 4"/>
          <p:cNvSpPr/>
          <p:nvPr/>
        </p:nvSpPr>
        <p:spPr>
          <a:xfrm>
            <a:off x="6959426" y="6030020"/>
            <a:ext cx="5232269" cy="319980"/>
          </a:xfrm>
          <a:prstGeom prst="rect">
            <a:avLst/>
          </a:prstGeom>
          <a:noFill/>
          <a:ln/>
        </p:spPr>
        <p:txBody>
          <a:bodyPr wrap="none" lIns="0" tIns="0" rIns="0" bIns="0" rtlCol="0" anchor="t"/>
          <a:lstStyle/>
          <a:p>
            <a:pPr marL="0" indent="0" algn="l">
              <a:lnSpc>
                <a:spcPct val="117000"/>
              </a:lnSpc>
              <a:buNone/>
            </a:pPr>
            <a:r>
              <a:rPr lang="en-US" sz="1800" dirty="0">
                <a:solidFill>
                  <a:srgbClr val="000000"/>
                </a:solidFill>
                <a:latin typeface="Hanken Grotesk" pitchFamily="34" charset="0"/>
                <a:ea typeface="Hanken Grotesk" pitchFamily="34" charset="-122"/>
                <a:cs typeface="Hanken Grotesk" pitchFamily="34" charset="-120"/>
              </a:rPr>
              <a:t>How the Rental Car Fleet Manager Works.</a:t>
            </a:r>
            <a:endParaRPr lang="en-US" sz="1800" dirty="0"/>
          </a:p>
        </p:txBody>
      </p:sp>
      <p:pic>
        <p:nvPicPr>
          <p:cNvPr id="8" name="Image 1" descr="preencoded.png"/>
          <p:cNvPicPr>
            <a:picLocks noChangeAspect="1"/>
          </p:cNvPicPr>
          <p:nvPr/>
        </p:nvPicPr>
        <p:blipFill>
          <a:blip r:embed="rId4"/>
          <a:stretch>
            <a:fillRect/>
          </a:stretch>
        </p:blipFill>
        <p:spPr>
          <a:xfrm>
            <a:off x="11226817" y="0"/>
            <a:ext cx="964779" cy="4019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304800"/>
            <a:ext cx="11582110" cy="128290"/>
          </a:xfrm>
          <a:prstGeom prst="rect">
            <a:avLst/>
          </a:prstGeom>
          <a:noFill/>
          <a:ln/>
        </p:spPr>
        <p:txBody>
          <a:bodyPr wrap="none" lIns="0" tIns="0" rIns="0" bIns="0" rtlCol="0" anchor="t"/>
          <a:lstStyle/>
          <a:p>
            <a:pPr marL="0" indent="0" algn="l">
              <a:lnSpc>
                <a:spcPct val="104000"/>
              </a:lnSpc>
              <a:buNone/>
            </a:pPr>
            <a:r>
              <a:rPr lang="en-US" sz="800" kern="100" spc="8" dirty="0">
                <a:solidFill>
                  <a:srgbClr val="16171D"/>
                </a:solidFill>
                <a:latin typeface="Red Hat Mono Medium" pitchFamily="34" charset="0"/>
                <a:ea typeface="Red Hat Mono Medium" pitchFamily="34" charset="-122"/>
                <a:cs typeface="Red Hat Mono Medium" pitchFamily="34" charset="-120"/>
              </a:rPr>
              <a:t>JAVA PROJECT · RENTAL CAR FLEET MANAGER</a:t>
            </a:r>
            <a:endParaRPr lang="en-US" sz="800" dirty="0"/>
          </a:p>
        </p:txBody>
      </p:sp>
      <p:sp>
        <p:nvSpPr>
          <p:cNvPr id="3" name="Text 1"/>
          <p:cNvSpPr/>
          <p:nvPr/>
        </p:nvSpPr>
        <p:spPr>
          <a:xfrm>
            <a:off x="609585" y="468610"/>
            <a:ext cx="10972526" cy="360065"/>
          </a:xfrm>
          <a:prstGeom prst="rect">
            <a:avLst/>
          </a:prstGeom>
          <a:noFill/>
          <a:ln/>
        </p:spPr>
        <p:txBody>
          <a:bodyPr wrap="none" lIns="0" tIns="0" rIns="0" bIns="0" rtlCol="0" anchor="t"/>
          <a:lstStyle/>
          <a:p>
            <a:pPr marL="0" indent="0" algn="l">
              <a:lnSpc>
                <a:spcPct val="79000"/>
              </a:lnSpc>
              <a:buNone/>
            </a:pPr>
            <a:r>
              <a:rPr lang="en-US" sz="3000" kern="100" spc="15" dirty="0">
                <a:solidFill>
                  <a:srgbClr val="16171D"/>
                </a:solidFill>
                <a:latin typeface="Big Shoulders ExtraBold" pitchFamily="34" charset="0"/>
                <a:ea typeface="Big Shoulders ExtraBold" pitchFamily="34" charset="-122"/>
                <a:cs typeface="Big Shoulders ExtraBold" pitchFamily="34" charset="-120"/>
              </a:rPr>
              <a:t>SYSTEM WORKFLOW</a:t>
            </a:r>
            <a:endParaRPr lang="en-US" sz="3000" dirty="0"/>
          </a:p>
        </p:txBody>
      </p:sp>
      <p:sp>
        <p:nvSpPr>
          <p:cNvPr id="4" name="Shape 2"/>
          <p:cNvSpPr/>
          <p:nvPr/>
        </p:nvSpPr>
        <p:spPr>
          <a:xfrm>
            <a:off x="609585" y="939800"/>
            <a:ext cx="10972526" cy="506909"/>
          </a:xfrm>
          <a:prstGeom prst="rect">
            <a:avLst/>
          </a:prstGeom>
          <a:solidFill>
            <a:srgbClr val="FF8424"/>
          </a:solidFill>
          <a:ln/>
        </p:spPr>
      </p:sp>
      <p:sp>
        <p:nvSpPr>
          <p:cNvPr id="5" name="Text 3"/>
          <p:cNvSpPr/>
          <p:nvPr/>
        </p:nvSpPr>
        <p:spPr>
          <a:xfrm>
            <a:off x="812780" y="1003300"/>
            <a:ext cx="10566136" cy="172442"/>
          </a:xfrm>
          <a:prstGeom prst="rect">
            <a:avLst/>
          </a:prstGeom>
          <a:noFill/>
          <a:ln/>
        </p:spPr>
        <p:txBody>
          <a:bodyPr wrap="none" lIns="0" tIns="0" rIns="0" bIns="0" rtlCol="0" anchor="t"/>
          <a:lstStyle/>
          <a:p>
            <a:pPr marL="0" indent="0" algn="l">
              <a:lnSpc>
                <a:spcPct val="96000"/>
              </a:lnSpc>
              <a:buNone/>
            </a:pPr>
            <a:r>
              <a:rPr lang="en-US" sz="1200" b="1" kern="100" spc="-6" dirty="0">
                <a:solidFill>
                  <a:srgbClr val="000000"/>
                </a:solidFill>
                <a:latin typeface="Hanken Grotesk Bold" pitchFamily="34" charset="0"/>
                <a:ea typeface="Hanken Grotesk Bold" pitchFamily="34" charset="-122"/>
                <a:cs typeface="Hanken Grotesk Bold" pitchFamily="34" charset="-120"/>
              </a:rPr>
              <a:t>Start</a:t>
            </a:r>
            <a:endParaRPr lang="en-US" sz="1200" dirty="0"/>
          </a:p>
        </p:txBody>
      </p:sp>
      <p:sp>
        <p:nvSpPr>
          <p:cNvPr id="6" name="Text 4"/>
          <p:cNvSpPr/>
          <p:nvPr/>
        </p:nvSpPr>
        <p:spPr>
          <a:xfrm>
            <a:off x="812780" y="1239540"/>
            <a:ext cx="10769331" cy="143669"/>
          </a:xfrm>
          <a:prstGeom prst="rect">
            <a:avLst/>
          </a:prstGeom>
          <a:noFill/>
          <a:ln/>
        </p:spPr>
        <p:txBody>
          <a:bodyPr wrap="none" lIns="0" tIns="0" rIns="0" bIns="0" rtlCol="0" anchor="t"/>
          <a:lstStyle/>
          <a:p>
            <a:pPr marL="0" indent="0" algn="l">
              <a:lnSpc>
                <a:spcPct val="108000"/>
              </a:lnSpc>
              <a:buNone/>
            </a:pPr>
            <a:r>
              <a:rPr lang="en-US" sz="850" kern="100" spc="4" dirty="0">
                <a:solidFill>
                  <a:srgbClr val="000000"/>
                </a:solidFill>
                <a:latin typeface="Hanken Grotesk" pitchFamily="34" charset="0"/>
                <a:ea typeface="Hanken Grotesk" pitchFamily="34" charset="-122"/>
                <a:cs typeface="Hanken Grotesk" pitchFamily="34" charset="-120"/>
              </a:rPr>
              <a:t>↓</a:t>
            </a:r>
            <a:endParaRPr lang="en-US" sz="850" dirty="0"/>
          </a:p>
        </p:txBody>
      </p:sp>
      <p:sp>
        <p:nvSpPr>
          <p:cNvPr id="7" name="Shape 5"/>
          <p:cNvSpPr/>
          <p:nvPr/>
        </p:nvSpPr>
        <p:spPr>
          <a:xfrm>
            <a:off x="609585" y="1599109"/>
            <a:ext cx="10972526" cy="506909"/>
          </a:xfrm>
          <a:prstGeom prst="rect">
            <a:avLst/>
          </a:prstGeom>
          <a:solidFill>
            <a:srgbClr val="EFEDE6"/>
          </a:solidFill>
          <a:ln/>
        </p:spPr>
      </p:sp>
      <p:sp>
        <p:nvSpPr>
          <p:cNvPr id="8" name="Text 6"/>
          <p:cNvSpPr/>
          <p:nvPr/>
        </p:nvSpPr>
        <p:spPr>
          <a:xfrm>
            <a:off x="812780" y="1662609"/>
            <a:ext cx="10566136" cy="172442"/>
          </a:xfrm>
          <a:prstGeom prst="rect">
            <a:avLst/>
          </a:prstGeom>
          <a:noFill/>
          <a:ln/>
        </p:spPr>
        <p:txBody>
          <a:bodyPr wrap="none" lIns="0" tIns="0" rIns="0" bIns="0" rtlCol="0" anchor="t"/>
          <a:lstStyle/>
          <a:p>
            <a:pPr marL="0" indent="0" algn="l">
              <a:lnSpc>
                <a:spcPct val="96000"/>
              </a:lnSpc>
              <a:buNone/>
            </a:pPr>
            <a:r>
              <a:rPr lang="en-US" sz="1200" b="1" kern="100" spc="-6" dirty="0">
                <a:solidFill>
                  <a:srgbClr val="16171D"/>
                </a:solidFill>
                <a:latin typeface="Hanken Grotesk Bold" pitchFamily="34" charset="0"/>
                <a:ea typeface="Hanken Grotesk Bold" pitchFamily="34" charset="-122"/>
                <a:cs typeface="Hanken Grotesk Bold" pitchFamily="34" charset="-120"/>
              </a:rPr>
              <a:t>Display Main Menu</a:t>
            </a:r>
            <a:endParaRPr lang="en-US" sz="1200" dirty="0"/>
          </a:p>
        </p:txBody>
      </p:sp>
      <p:sp>
        <p:nvSpPr>
          <p:cNvPr id="9" name="Text 7"/>
          <p:cNvSpPr/>
          <p:nvPr/>
        </p:nvSpPr>
        <p:spPr>
          <a:xfrm>
            <a:off x="812780" y="1898848"/>
            <a:ext cx="10769331" cy="143669"/>
          </a:xfrm>
          <a:prstGeom prst="rect">
            <a:avLst/>
          </a:prstGeom>
          <a:noFill/>
          <a:ln/>
        </p:spPr>
        <p:txBody>
          <a:bodyPr wrap="none" lIns="0" tIns="0" rIns="0" bIns="0" rtlCol="0" anchor="t"/>
          <a:lstStyle/>
          <a:p>
            <a:pPr marL="0" indent="0" algn="l">
              <a:lnSpc>
                <a:spcPct val="108000"/>
              </a:lnSpc>
              <a:buNone/>
            </a:pPr>
            <a:r>
              <a:rPr lang="en-US" sz="850" kern="100" spc="4" dirty="0">
                <a:solidFill>
                  <a:srgbClr val="16171D"/>
                </a:solidFill>
                <a:latin typeface="Hanken Grotesk" pitchFamily="34" charset="0"/>
                <a:ea typeface="Hanken Grotesk" pitchFamily="34" charset="-122"/>
                <a:cs typeface="Hanken Grotesk" pitchFamily="34" charset="-120"/>
              </a:rPr>
              <a:t>↓</a:t>
            </a:r>
            <a:endParaRPr lang="en-US" sz="850" dirty="0"/>
          </a:p>
        </p:txBody>
      </p:sp>
      <p:sp>
        <p:nvSpPr>
          <p:cNvPr id="10" name="Shape 8"/>
          <p:cNvSpPr/>
          <p:nvPr/>
        </p:nvSpPr>
        <p:spPr>
          <a:xfrm>
            <a:off x="609585" y="2258417"/>
            <a:ext cx="10972526" cy="506909"/>
          </a:xfrm>
          <a:prstGeom prst="rect">
            <a:avLst/>
          </a:prstGeom>
          <a:solidFill>
            <a:srgbClr val="EFEDE6"/>
          </a:solidFill>
          <a:ln/>
        </p:spPr>
      </p:sp>
      <p:sp>
        <p:nvSpPr>
          <p:cNvPr id="11" name="Text 9"/>
          <p:cNvSpPr/>
          <p:nvPr/>
        </p:nvSpPr>
        <p:spPr>
          <a:xfrm>
            <a:off x="812780" y="2321917"/>
            <a:ext cx="10566136" cy="172442"/>
          </a:xfrm>
          <a:prstGeom prst="rect">
            <a:avLst/>
          </a:prstGeom>
          <a:noFill/>
          <a:ln/>
        </p:spPr>
        <p:txBody>
          <a:bodyPr wrap="none" lIns="0" tIns="0" rIns="0" bIns="0" rtlCol="0" anchor="t"/>
          <a:lstStyle/>
          <a:p>
            <a:pPr marL="0" indent="0" algn="l">
              <a:lnSpc>
                <a:spcPct val="96000"/>
              </a:lnSpc>
              <a:buNone/>
            </a:pPr>
            <a:r>
              <a:rPr lang="en-US" sz="1200" b="1" kern="100" spc="-6" dirty="0">
                <a:solidFill>
                  <a:srgbClr val="16171D"/>
                </a:solidFill>
                <a:latin typeface="Hanken Grotesk Bold" pitchFamily="34" charset="0"/>
                <a:ea typeface="Hanken Grotesk Bold" pitchFamily="34" charset="-122"/>
                <a:cs typeface="Hanken Grotesk Bold" pitchFamily="34" charset="-120"/>
              </a:rPr>
              <a:t>User Selects an Operation</a:t>
            </a:r>
            <a:endParaRPr lang="en-US" sz="1200" dirty="0"/>
          </a:p>
        </p:txBody>
      </p:sp>
      <p:sp>
        <p:nvSpPr>
          <p:cNvPr id="12" name="Text 10"/>
          <p:cNvSpPr/>
          <p:nvPr/>
        </p:nvSpPr>
        <p:spPr>
          <a:xfrm>
            <a:off x="812780" y="2558157"/>
            <a:ext cx="10769331" cy="143669"/>
          </a:xfrm>
          <a:prstGeom prst="rect">
            <a:avLst/>
          </a:prstGeom>
          <a:noFill/>
          <a:ln/>
        </p:spPr>
        <p:txBody>
          <a:bodyPr wrap="none" lIns="0" tIns="0" rIns="0" bIns="0" rtlCol="0" anchor="t"/>
          <a:lstStyle/>
          <a:p>
            <a:pPr marL="0" indent="0" algn="l">
              <a:lnSpc>
                <a:spcPct val="108000"/>
              </a:lnSpc>
              <a:buNone/>
            </a:pPr>
            <a:r>
              <a:rPr lang="en-US" sz="850" kern="100" spc="4" dirty="0">
                <a:solidFill>
                  <a:srgbClr val="16171D"/>
                </a:solidFill>
                <a:latin typeface="Hanken Grotesk" pitchFamily="34" charset="0"/>
                <a:ea typeface="Hanken Grotesk" pitchFamily="34" charset="-122"/>
                <a:cs typeface="Hanken Grotesk" pitchFamily="34" charset="-120"/>
              </a:rPr>
              <a:t>↓</a:t>
            </a:r>
            <a:endParaRPr lang="en-US" sz="850" dirty="0"/>
          </a:p>
        </p:txBody>
      </p:sp>
      <p:sp>
        <p:nvSpPr>
          <p:cNvPr id="13" name="Shape 11"/>
          <p:cNvSpPr/>
          <p:nvPr/>
        </p:nvSpPr>
        <p:spPr>
          <a:xfrm>
            <a:off x="609585" y="2917726"/>
            <a:ext cx="10972526" cy="506909"/>
          </a:xfrm>
          <a:prstGeom prst="rect">
            <a:avLst/>
          </a:prstGeom>
          <a:solidFill>
            <a:srgbClr val="EFEDE6"/>
          </a:solidFill>
          <a:ln/>
        </p:spPr>
      </p:sp>
      <p:sp>
        <p:nvSpPr>
          <p:cNvPr id="14" name="Text 12"/>
          <p:cNvSpPr/>
          <p:nvPr/>
        </p:nvSpPr>
        <p:spPr>
          <a:xfrm>
            <a:off x="812780" y="2981226"/>
            <a:ext cx="10566136" cy="172442"/>
          </a:xfrm>
          <a:prstGeom prst="rect">
            <a:avLst/>
          </a:prstGeom>
          <a:noFill/>
          <a:ln/>
        </p:spPr>
        <p:txBody>
          <a:bodyPr wrap="none" lIns="0" tIns="0" rIns="0" bIns="0" rtlCol="0" anchor="t"/>
          <a:lstStyle/>
          <a:p>
            <a:pPr marL="0" indent="0" algn="l">
              <a:lnSpc>
                <a:spcPct val="96000"/>
              </a:lnSpc>
              <a:buNone/>
            </a:pPr>
            <a:r>
              <a:rPr lang="en-US" sz="1200" b="1" kern="100" spc="-6" dirty="0">
                <a:solidFill>
                  <a:srgbClr val="16171D"/>
                </a:solidFill>
                <a:latin typeface="Hanken Grotesk Bold" pitchFamily="34" charset="0"/>
                <a:ea typeface="Hanken Grotesk Bold" pitchFamily="34" charset="-122"/>
                <a:cs typeface="Hanken Grotesk Bold" pitchFamily="34" charset="-120"/>
              </a:rPr>
              <a:t>Display Cars / Search Car / Rent Car / Return Car</a:t>
            </a:r>
            <a:endParaRPr lang="en-US" sz="1200" dirty="0"/>
          </a:p>
        </p:txBody>
      </p:sp>
      <p:sp>
        <p:nvSpPr>
          <p:cNvPr id="15" name="Text 13"/>
          <p:cNvSpPr/>
          <p:nvPr/>
        </p:nvSpPr>
        <p:spPr>
          <a:xfrm>
            <a:off x="812780" y="3217466"/>
            <a:ext cx="10769331" cy="143669"/>
          </a:xfrm>
          <a:prstGeom prst="rect">
            <a:avLst/>
          </a:prstGeom>
          <a:noFill/>
          <a:ln/>
        </p:spPr>
        <p:txBody>
          <a:bodyPr wrap="none" lIns="0" tIns="0" rIns="0" bIns="0" rtlCol="0" anchor="t"/>
          <a:lstStyle/>
          <a:p>
            <a:pPr marL="0" indent="0" algn="l">
              <a:lnSpc>
                <a:spcPct val="108000"/>
              </a:lnSpc>
              <a:buNone/>
            </a:pPr>
            <a:r>
              <a:rPr lang="en-US" sz="850" kern="100" spc="4" dirty="0">
                <a:solidFill>
                  <a:srgbClr val="16171D"/>
                </a:solidFill>
                <a:latin typeface="Hanken Grotesk" pitchFamily="34" charset="0"/>
                <a:ea typeface="Hanken Grotesk" pitchFamily="34" charset="-122"/>
                <a:cs typeface="Hanken Grotesk" pitchFamily="34" charset="-120"/>
              </a:rPr>
              <a:t>↓</a:t>
            </a:r>
            <a:endParaRPr lang="en-US" sz="850" dirty="0"/>
          </a:p>
        </p:txBody>
      </p:sp>
      <p:sp>
        <p:nvSpPr>
          <p:cNvPr id="16" name="Shape 14"/>
          <p:cNvSpPr/>
          <p:nvPr/>
        </p:nvSpPr>
        <p:spPr>
          <a:xfrm>
            <a:off x="609585" y="3577034"/>
            <a:ext cx="10972526" cy="506909"/>
          </a:xfrm>
          <a:prstGeom prst="rect">
            <a:avLst/>
          </a:prstGeom>
          <a:solidFill>
            <a:srgbClr val="EFEDE6"/>
          </a:solidFill>
          <a:ln/>
        </p:spPr>
      </p:sp>
      <p:sp>
        <p:nvSpPr>
          <p:cNvPr id="17" name="Text 15"/>
          <p:cNvSpPr/>
          <p:nvPr/>
        </p:nvSpPr>
        <p:spPr>
          <a:xfrm>
            <a:off x="812780" y="3640534"/>
            <a:ext cx="10566136" cy="172442"/>
          </a:xfrm>
          <a:prstGeom prst="rect">
            <a:avLst/>
          </a:prstGeom>
          <a:noFill/>
          <a:ln/>
        </p:spPr>
        <p:txBody>
          <a:bodyPr wrap="none" lIns="0" tIns="0" rIns="0" bIns="0" rtlCol="0" anchor="t"/>
          <a:lstStyle/>
          <a:p>
            <a:pPr marL="0" indent="0" algn="l">
              <a:lnSpc>
                <a:spcPct val="96000"/>
              </a:lnSpc>
              <a:buNone/>
            </a:pPr>
            <a:r>
              <a:rPr lang="en-US" sz="1200" b="1" kern="100" spc="-6" dirty="0">
                <a:solidFill>
                  <a:srgbClr val="16171D"/>
                </a:solidFill>
                <a:latin typeface="Hanken Grotesk Bold" pitchFamily="34" charset="0"/>
                <a:ea typeface="Hanken Grotesk Bold" pitchFamily="34" charset="-122"/>
                <a:cs typeface="Hanken Grotesk Bold" pitchFamily="34" charset="-120"/>
              </a:rPr>
              <a:t>Validate Input &amp; Check Availability</a:t>
            </a:r>
            <a:endParaRPr lang="en-US" sz="1200" dirty="0"/>
          </a:p>
        </p:txBody>
      </p:sp>
      <p:sp>
        <p:nvSpPr>
          <p:cNvPr id="18" name="Text 16"/>
          <p:cNvSpPr/>
          <p:nvPr/>
        </p:nvSpPr>
        <p:spPr>
          <a:xfrm>
            <a:off x="812780" y="3876774"/>
            <a:ext cx="10769331" cy="143669"/>
          </a:xfrm>
          <a:prstGeom prst="rect">
            <a:avLst/>
          </a:prstGeom>
          <a:noFill/>
          <a:ln/>
        </p:spPr>
        <p:txBody>
          <a:bodyPr wrap="none" lIns="0" tIns="0" rIns="0" bIns="0" rtlCol="0" anchor="t"/>
          <a:lstStyle/>
          <a:p>
            <a:pPr marL="0" indent="0" algn="l">
              <a:lnSpc>
                <a:spcPct val="108000"/>
              </a:lnSpc>
              <a:buNone/>
            </a:pPr>
            <a:r>
              <a:rPr lang="en-US" sz="850" kern="100" spc="4" dirty="0">
                <a:solidFill>
                  <a:srgbClr val="16171D"/>
                </a:solidFill>
                <a:latin typeface="Hanken Grotesk" pitchFamily="34" charset="0"/>
                <a:ea typeface="Hanken Grotesk" pitchFamily="34" charset="-122"/>
                <a:cs typeface="Hanken Grotesk" pitchFamily="34" charset="-120"/>
              </a:rPr>
              <a:t>↓</a:t>
            </a:r>
            <a:endParaRPr lang="en-US" sz="850" dirty="0"/>
          </a:p>
        </p:txBody>
      </p:sp>
      <p:sp>
        <p:nvSpPr>
          <p:cNvPr id="19" name="Shape 17"/>
          <p:cNvSpPr/>
          <p:nvPr/>
        </p:nvSpPr>
        <p:spPr>
          <a:xfrm>
            <a:off x="609585" y="4236343"/>
            <a:ext cx="10972526" cy="506909"/>
          </a:xfrm>
          <a:prstGeom prst="rect">
            <a:avLst/>
          </a:prstGeom>
          <a:solidFill>
            <a:srgbClr val="EFEDE6"/>
          </a:solidFill>
          <a:ln/>
        </p:spPr>
      </p:sp>
      <p:sp>
        <p:nvSpPr>
          <p:cNvPr id="20" name="Text 18"/>
          <p:cNvSpPr/>
          <p:nvPr/>
        </p:nvSpPr>
        <p:spPr>
          <a:xfrm>
            <a:off x="812780" y="4299843"/>
            <a:ext cx="10566136" cy="172442"/>
          </a:xfrm>
          <a:prstGeom prst="rect">
            <a:avLst/>
          </a:prstGeom>
          <a:noFill/>
          <a:ln/>
        </p:spPr>
        <p:txBody>
          <a:bodyPr wrap="none" lIns="0" tIns="0" rIns="0" bIns="0" rtlCol="0" anchor="t"/>
          <a:lstStyle/>
          <a:p>
            <a:pPr marL="0" indent="0" algn="l">
              <a:lnSpc>
                <a:spcPct val="96000"/>
              </a:lnSpc>
              <a:buNone/>
            </a:pPr>
            <a:r>
              <a:rPr lang="en-US" sz="1200" b="1" kern="100" spc="-6" dirty="0">
                <a:solidFill>
                  <a:srgbClr val="16171D"/>
                </a:solidFill>
                <a:latin typeface="Hanken Grotesk Bold" pitchFamily="34" charset="0"/>
                <a:ea typeface="Hanken Grotesk Bold" pitchFamily="34" charset="-122"/>
                <a:cs typeface="Hanken Grotesk Bold" pitchFamily="34" charset="-120"/>
              </a:rPr>
              <a:t>Update Car Status</a:t>
            </a:r>
            <a:endParaRPr lang="en-US" sz="1200" dirty="0"/>
          </a:p>
        </p:txBody>
      </p:sp>
      <p:sp>
        <p:nvSpPr>
          <p:cNvPr id="21" name="Text 19"/>
          <p:cNvSpPr/>
          <p:nvPr/>
        </p:nvSpPr>
        <p:spPr>
          <a:xfrm>
            <a:off x="812780" y="4536083"/>
            <a:ext cx="10769331" cy="143669"/>
          </a:xfrm>
          <a:prstGeom prst="rect">
            <a:avLst/>
          </a:prstGeom>
          <a:noFill/>
          <a:ln/>
        </p:spPr>
        <p:txBody>
          <a:bodyPr wrap="none" lIns="0" tIns="0" rIns="0" bIns="0" rtlCol="0" anchor="t"/>
          <a:lstStyle/>
          <a:p>
            <a:pPr marL="0" indent="0" algn="l">
              <a:lnSpc>
                <a:spcPct val="108000"/>
              </a:lnSpc>
              <a:buNone/>
            </a:pPr>
            <a:r>
              <a:rPr lang="en-US" sz="850" kern="100" spc="4" dirty="0">
                <a:solidFill>
                  <a:srgbClr val="16171D"/>
                </a:solidFill>
                <a:latin typeface="Hanken Grotesk" pitchFamily="34" charset="0"/>
                <a:ea typeface="Hanken Grotesk" pitchFamily="34" charset="-122"/>
                <a:cs typeface="Hanken Grotesk" pitchFamily="34" charset="-120"/>
              </a:rPr>
              <a:t>↓</a:t>
            </a:r>
            <a:endParaRPr lang="en-US" sz="850" dirty="0"/>
          </a:p>
        </p:txBody>
      </p:sp>
      <p:sp>
        <p:nvSpPr>
          <p:cNvPr id="22" name="Shape 20"/>
          <p:cNvSpPr/>
          <p:nvPr/>
        </p:nvSpPr>
        <p:spPr>
          <a:xfrm>
            <a:off x="609585" y="4895652"/>
            <a:ext cx="10972526" cy="506909"/>
          </a:xfrm>
          <a:prstGeom prst="rect">
            <a:avLst/>
          </a:prstGeom>
          <a:solidFill>
            <a:srgbClr val="EFEDE6"/>
          </a:solidFill>
          <a:ln/>
        </p:spPr>
      </p:sp>
      <p:sp>
        <p:nvSpPr>
          <p:cNvPr id="23" name="Text 21"/>
          <p:cNvSpPr/>
          <p:nvPr/>
        </p:nvSpPr>
        <p:spPr>
          <a:xfrm>
            <a:off x="812780" y="4959152"/>
            <a:ext cx="10566136" cy="172442"/>
          </a:xfrm>
          <a:prstGeom prst="rect">
            <a:avLst/>
          </a:prstGeom>
          <a:noFill/>
          <a:ln/>
        </p:spPr>
        <p:txBody>
          <a:bodyPr wrap="none" lIns="0" tIns="0" rIns="0" bIns="0" rtlCol="0" anchor="t"/>
          <a:lstStyle/>
          <a:p>
            <a:pPr marL="0" indent="0" algn="l">
              <a:lnSpc>
                <a:spcPct val="96000"/>
              </a:lnSpc>
              <a:buNone/>
            </a:pPr>
            <a:r>
              <a:rPr lang="en-US" sz="1200" b="1" kern="100" spc="-6" dirty="0">
                <a:solidFill>
                  <a:srgbClr val="16171D"/>
                </a:solidFill>
                <a:latin typeface="Hanken Grotesk Bold" pitchFamily="34" charset="0"/>
                <a:ea typeface="Hanken Grotesk Bold" pitchFamily="34" charset="-122"/>
                <a:cs typeface="Hanken Grotesk Bold" pitchFamily="34" charset="-120"/>
              </a:rPr>
              <a:t>Display Result</a:t>
            </a:r>
            <a:endParaRPr lang="en-US" sz="1200" dirty="0"/>
          </a:p>
        </p:txBody>
      </p:sp>
      <p:sp>
        <p:nvSpPr>
          <p:cNvPr id="24" name="Text 22"/>
          <p:cNvSpPr/>
          <p:nvPr/>
        </p:nvSpPr>
        <p:spPr>
          <a:xfrm>
            <a:off x="812780" y="5195391"/>
            <a:ext cx="10769331" cy="143669"/>
          </a:xfrm>
          <a:prstGeom prst="rect">
            <a:avLst/>
          </a:prstGeom>
          <a:noFill/>
          <a:ln/>
        </p:spPr>
        <p:txBody>
          <a:bodyPr wrap="none" lIns="0" tIns="0" rIns="0" bIns="0" rtlCol="0" anchor="t"/>
          <a:lstStyle/>
          <a:p>
            <a:pPr marL="0" indent="0" algn="l">
              <a:lnSpc>
                <a:spcPct val="108000"/>
              </a:lnSpc>
              <a:buNone/>
            </a:pPr>
            <a:r>
              <a:rPr lang="en-US" sz="850" kern="100" spc="4" dirty="0">
                <a:solidFill>
                  <a:srgbClr val="16171D"/>
                </a:solidFill>
                <a:latin typeface="Hanken Grotesk" pitchFamily="34" charset="0"/>
                <a:ea typeface="Hanken Grotesk" pitchFamily="34" charset="-122"/>
                <a:cs typeface="Hanken Grotesk" pitchFamily="34" charset="-120"/>
              </a:rPr>
              <a:t>↓</a:t>
            </a:r>
            <a:endParaRPr lang="en-US" sz="850" dirty="0"/>
          </a:p>
        </p:txBody>
      </p:sp>
      <p:sp>
        <p:nvSpPr>
          <p:cNvPr id="25" name="Shape 23"/>
          <p:cNvSpPr/>
          <p:nvPr/>
        </p:nvSpPr>
        <p:spPr>
          <a:xfrm>
            <a:off x="609585" y="5554960"/>
            <a:ext cx="10972526" cy="506909"/>
          </a:xfrm>
          <a:prstGeom prst="rect">
            <a:avLst/>
          </a:prstGeom>
          <a:solidFill>
            <a:srgbClr val="EFEDE6"/>
          </a:solidFill>
          <a:ln/>
        </p:spPr>
      </p:sp>
      <p:sp>
        <p:nvSpPr>
          <p:cNvPr id="26" name="Text 24"/>
          <p:cNvSpPr/>
          <p:nvPr/>
        </p:nvSpPr>
        <p:spPr>
          <a:xfrm>
            <a:off x="812780" y="5618460"/>
            <a:ext cx="10566136" cy="172442"/>
          </a:xfrm>
          <a:prstGeom prst="rect">
            <a:avLst/>
          </a:prstGeom>
          <a:noFill/>
          <a:ln/>
        </p:spPr>
        <p:txBody>
          <a:bodyPr wrap="none" lIns="0" tIns="0" rIns="0" bIns="0" rtlCol="0" anchor="t"/>
          <a:lstStyle/>
          <a:p>
            <a:pPr marL="0" indent="0" algn="l">
              <a:lnSpc>
                <a:spcPct val="96000"/>
              </a:lnSpc>
              <a:buNone/>
            </a:pPr>
            <a:r>
              <a:rPr lang="en-US" sz="1200" b="1" kern="100" spc="-6" dirty="0">
                <a:solidFill>
                  <a:srgbClr val="16171D"/>
                </a:solidFill>
                <a:latin typeface="Hanken Grotesk Bold" pitchFamily="34" charset="0"/>
                <a:ea typeface="Hanken Grotesk Bold" pitchFamily="34" charset="-122"/>
                <a:cs typeface="Hanken Grotesk Bold" pitchFamily="34" charset="-120"/>
              </a:rPr>
              <a:t>Return to Main Menu</a:t>
            </a:r>
            <a:endParaRPr lang="en-US" sz="1200" dirty="0"/>
          </a:p>
        </p:txBody>
      </p:sp>
      <p:sp>
        <p:nvSpPr>
          <p:cNvPr id="27" name="Text 25"/>
          <p:cNvSpPr/>
          <p:nvPr/>
        </p:nvSpPr>
        <p:spPr>
          <a:xfrm>
            <a:off x="812780" y="5854700"/>
            <a:ext cx="10769331" cy="143669"/>
          </a:xfrm>
          <a:prstGeom prst="rect">
            <a:avLst/>
          </a:prstGeom>
          <a:noFill/>
          <a:ln/>
        </p:spPr>
        <p:txBody>
          <a:bodyPr wrap="none" lIns="0" tIns="0" rIns="0" bIns="0" rtlCol="0" anchor="t"/>
          <a:lstStyle/>
          <a:p>
            <a:pPr marL="0" indent="0" algn="l">
              <a:lnSpc>
                <a:spcPct val="108000"/>
              </a:lnSpc>
              <a:buNone/>
            </a:pPr>
            <a:r>
              <a:rPr lang="en-US" sz="850" kern="100" spc="4" dirty="0">
                <a:solidFill>
                  <a:srgbClr val="16171D"/>
                </a:solidFill>
                <a:latin typeface="Hanken Grotesk" pitchFamily="34" charset="0"/>
                <a:ea typeface="Hanken Grotesk" pitchFamily="34" charset="-122"/>
                <a:cs typeface="Hanken Grotesk" pitchFamily="34" charset="-120"/>
              </a:rPr>
              <a:t>↓</a:t>
            </a:r>
            <a:endParaRPr lang="en-US" sz="850" dirty="0"/>
          </a:p>
        </p:txBody>
      </p:sp>
      <p:sp>
        <p:nvSpPr>
          <p:cNvPr id="28" name="Shape 26"/>
          <p:cNvSpPr/>
          <p:nvPr/>
        </p:nvSpPr>
        <p:spPr>
          <a:xfrm>
            <a:off x="609585" y="6214269"/>
            <a:ext cx="10972526" cy="299442"/>
          </a:xfrm>
          <a:prstGeom prst="rect">
            <a:avLst/>
          </a:prstGeom>
          <a:solidFill>
            <a:srgbClr val="FF8424"/>
          </a:solidFill>
          <a:ln/>
        </p:spPr>
      </p:sp>
      <p:sp>
        <p:nvSpPr>
          <p:cNvPr id="29" name="Text 27"/>
          <p:cNvSpPr/>
          <p:nvPr/>
        </p:nvSpPr>
        <p:spPr>
          <a:xfrm>
            <a:off x="812780" y="6277769"/>
            <a:ext cx="10566136" cy="172442"/>
          </a:xfrm>
          <a:prstGeom prst="rect">
            <a:avLst/>
          </a:prstGeom>
          <a:noFill/>
          <a:ln/>
        </p:spPr>
        <p:txBody>
          <a:bodyPr wrap="none" lIns="0" tIns="0" rIns="0" bIns="0" rtlCol="0" anchor="t"/>
          <a:lstStyle/>
          <a:p>
            <a:pPr marL="0" indent="0" algn="l">
              <a:lnSpc>
                <a:spcPct val="96000"/>
              </a:lnSpc>
              <a:buNone/>
            </a:pPr>
            <a:r>
              <a:rPr lang="en-US" sz="1200" b="1" kern="100" spc="-6" dirty="0">
                <a:solidFill>
                  <a:srgbClr val="000000"/>
                </a:solidFill>
                <a:latin typeface="Hanken Grotesk Bold" pitchFamily="34" charset="0"/>
                <a:ea typeface="Hanken Grotesk Bold" pitchFamily="34" charset="-122"/>
                <a:cs typeface="Hanken Grotesk Bold" pitchFamily="34" charset="-120"/>
              </a:rPr>
              <a:t>Exit when the user selects 5</a:t>
            </a:r>
            <a:endParaRPr lang="en-US" sz="1200" dirty="0"/>
          </a:p>
        </p:txBody>
      </p:sp>
      <p:sp>
        <p:nvSpPr>
          <p:cNvPr id="30" name="Text 28"/>
          <p:cNvSpPr/>
          <p:nvPr/>
        </p:nvSpPr>
        <p:spPr>
          <a:xfrm>
            <a:off x="812780" y="6716911"/>
            <a:ext cx="10769331" cy="143669"/>
          </a:xfrm>
          <a:prstGeom prst="rect">
            <a:avLst/>
          </a:prstGeom>
          <a:noFill/>
          <a:ln/>
        </p:spPr>
        <p:txBody>
          <a:bodyPr wrap="none" lIns="0" tIns="0" rIns="0" bIns="0" rtlCol="0" anchor="t"/>
          <a:lstStyle/>
          <a:p>
            <a:pPr marL="0" indent="0" algn="l">
              <a:lnSpc>
                <a:spcPct val="108000"/>
              </a:lnSpc>
              <a:buNone/>
            </a:pPr>
            <a:r>
              <a:rPr lang="en-US" sz="850" kern="100" spc="4" dirty="0">
                <a:solidFill>
                  <a:srgbClr val="4E5058"/>
                </a:solidFill>
                <a:latin typeface="Hanken Grotesk" pitchFamily="34" charset="0"/>
                <a:ea typeface="Hanken Grotesk" pitchFamily="34" charset="-122"/>
                <a:cs typeface="Hanken Grotesk" pitchFamily="34" charset="-120"/>
              </a:rPr>
              <a:t>Car availability is updated after every rental or return.</a:t>
            </a:r>
            <a:endParaRPr lang="en-US" sz="850" dirty="0"/>
          </a:p>
        </p:txBody>
      </p:sp>
      <p:pic>
        <p:nvPicPr>
          <p:cNvPr id="31" name="Image 0" descr="preencoded.png"/>
          <p:cNvPicPr>
            <a:picLocks noChangeAspect="1"/>
          </p:cNvPicPr>
          <p:nvPr/>
        </p:nvPicPr>
        <p:blipFill>
          <a:blip r:embed="rId3"/>
          <a:stretch>
            <a:fillRect/>
          </a:stretch>
        </p:blipFill>
        <p:spPr>
          <a:xfrm>
            <a:off x="11024019" y="0"/>
            <a:ext cx="1167577" cy="4864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3657509" cy="6875165"/>
          </a:xfrm>
          <a:prstGeom prst="rect">
            <a:avLst/>
          </a:prstGeom>
          <a:solidFill>
            <a:srgbClr val="FF8424"/>
          </a:solidFill>
          <a:ln/>
        </p:spPr>
      </p:sp>
      <p:sp>
        <p:nvSpPr>
          <p:cNvPr id="3" name="Text 1"/>
          <p:cNvSpPr/>
          <p:nvPr/>
        </p:nvSpPr>
        <p:spPr>
          <a:xfrm>
            <a:off x="533387" y="330200"/>
            <a:ext cx="3124122"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000000"/>
                </a:solidFill>
                <a:latin typeface="Red Hat Mono Medium" pitchFamily="34" charset="0"/>
                <a:ea typeface="Red Hat Mono Medium" pitchFamily="34" charset="-122"/>
                <a:cs typeface="Red Hat Mono Medium" pitchFamily="34" charset="-120"/>
              </a:rPr>
              <a:t>05 · CONCLUSION</a:t>
            </a:r>
            <a:endParaRPr lang="en-US" sz="1300" dirty="0"/>
          </a:p>
        </p:txBody>
      </p:sp>
      <p:sp>
        <p:nvSpPr>
          <p:cNvPr id="4" name="Text 2"/>
          <p:cNvSpPr/>
          <p:nvPr/>
        </p:nvSpPr>
        <p:spPr>
          <a:xfrm>
            <a:off x="533387" y="3380383"/>
            <a:ext cx="2692333" cy="1028105"/>
          </a:xfrm>
          <a:prstGeom prst="rect">
            <a:avLst/>
          </a:prstGeom>
          <a:noFill/>
          <a:ln/>
        </p:spPr>
        <p:txBody>
          <a:bodyPr wrap="none" lIns="0" tIns="0" rIns="0" bIns="0" rtlCol="0" anchor="t"/>
          <a:lstStyle/>
          <a:p>
            <a:pPr marL="0" indent="0" algn="l">
              <a:lnSpc>
                <a:spcPct val="77000"/>
              </a:lnSpc>
              <a:buNone/>
            </a:pPr>
            <a:r>
              <a:rPr lang="en-US" sz="8800" dirty="0">
                <a:solidFill>
                  <a:srgbClr val="000000"/>
                </a:solidFill>
                <a:latin typeface="Big Shoulders ExtraBold" pitchFamily="34" charset="0"/>
                <a:ea typeface="Big Shoulders ExtraBold" pitchFamily="34" charset="-122"/>
                <a:cs typeface="Big Shoulders ExtraBold" pitchFamily="34" charset="-120"/>
              </a:rPr>
              <a:t>05</a:t>
            </a:r>
            <a:endParaRPr lang="en-US" sz="8800" dirty="0"/>
          </a:p>
        </p:txBody>
      </p:sp>
      <p:sp>
        <p:nvSpPr>
          <p:cNvPr id="5" name="Text 3"/>
          <p:cNvSpPr/>
          <p:nvPr/>
        </p:nvSpPr>
        <p:spPr>
          <a:xfrm>
            <a:off x="533387" y="4614863"/>
            <a:ext cx="2692333" cy="868561"/>
          </a:xfrm>
          <a:prstGeom prst="rect">
            <a:avLst/>
          </a:prstGeom>
          <a:noFill/>
          <a:ln/>
        </p:spPr>
        <p:txBody>
          <a:bodyPr wrap="square" lIns="0" tIns="0" rIns="0" bIns="0" rtlCol="0" anchor="t">
            <a:normAutofit/>
          </a:bodyPr>
          <a:lstStyle/>
          <a:p>
            <a:pPr marL="0" indent="0" algn="l">
              <a:lnSpc>
                <a:spcPct val="79000"/>
              </a:lnSpc>
              <a:buNone/>
            </a:pPr>
            <a:r>
              <a:rPr lang="en-US" sz="3600" kern="100" spc="18" dirty="0">
                <a:solidFill>
                  <a:srgbClr val="000000"/>
                </a:solidFill>
                <a:latin typeface="Big Shoulders ExtraBold" pitchFamily="34" charset="0"/>
                <a:ea typeface="Big Shoulders ExtraBold" pitchFamily="34" charset="-122"/>
                <a:cs typeface="Big Shoulders ExtraBold" pitchFamily="34" charset="-120"/>
              </a:rPr>
              <a:t>CONCLUSION &amp; FUTURE SCOPE</a:t>
            </a:r>
            <a:endParaRPr lang="en-US" sz="3600" dirty="0"/>
          </a:p>
        </p:txBody>
      </p:sp>
      <p:sp>
        <p:nvSpPr>
          <p:cNvPr id="6" name="Text 4"/>
          <p:cNvSpPr/>
          <p:nvPr/>
        </p:nvSpPr>
        <p:spPr>
          <a:xfrm>
            <a:off x="533387" y="5712023"/>
            <a:ext cx="2692333" cy="959941"/>
          </a:xfrm>
          <a:prstGeom prst="rect">
            <a:avLst/>
          </a:prstGeom>
          <a:noFill/>
          <a:ln/>
        </p:spPr>
        <p:txBody>
          <a:bodyPr wrap="square" lIns="0" tIns="0" rIns="0" bIns="0" rtlCol="0" anchor="t">
            <a:normAutofit/>
          </a:bodyPr>
          <a:lstStyle/>
          <a:p>
            <a:pPr marL="0" indent="0" algn="l">
              <a:lnSpc>
                <a:spcPct val="117000"/>
              </a:lnSpc>
              <a:buNone/>
            </a:pPr>
            <a:r>
              <a:rPr lang="en-US" sz="1800" dirty="0">
                <a:solidFill>
                  <a:srgbClr val="000000"/>
                </a:solidFill>
                <a:latin typeface="Hanken Grotesk" pitchFamily="34" charset="0"/>
                <a:ea typeface="Hanken Grotesk" pitchFamily="34" charset="-122"/>
                <a:cs typeface="Hanken Grotesk" pitchFamily="34" charset="-120"/>
              </a:rPr>
              <a:t>Practical Java concepts applied to rental car operations.</a:t>
            </a:r>
            <a:endParaRPr lang="en-US" sz="1800" dirty="0"/>
          </a:p>
        </p:txBody>
      </p:sp>
      <p:pic>
        <p:nvPicPr>
          <p:cNvPr id="7" name="Image 0" descr="preencoded.png"/>
          <p:cNvPicPr>
            <a:picLocks noChangeAspect="1"/>
          </p:cNvPicPr>
          <p:nvPr/>
        </p:nvPicPr>
        <p:blipFill>
          <a:blip r:embed="rId3"/>
          <a:stretch>
            <a:fillRect/>
          </a:stretch>
        </p:blipFill>
        <p:spPr>
          <a:xfrm>
            <a:off x="4114697" y="381000"/>
            <a:ext cx="457189" cy="457200"/>
          </a:xfrm>
          <a:prstGeom prst="rect">
            <a:avLst/>
          </a:prstGeom>
        </p:spPr>
      </p:pic>
      <p:sp>
        <p:nvSpPr>
          <p:cNvPr id="8" name="Text 5"/>
          <p:cNvSpPr/>
          <p:nvPr/>
        </p:nvSpPr>
        <p:spPr>
          <a:xfrm>
            <a:off x="4114697" y="1044575"/>
            <a:ext cx="7569011"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Hanken Grotesk Bold" pitchFamily="34" charset="0"/>
                <a:ea typeface="Hanken Grotesk Bold" pitchFamily="34" charset="-122"/>
                <a:cs typeface="Hanken Grotesk Bold" pitchFamily="34" charset="-120"/>
              </a:rPr>
              <a:t>Conclusion</a:t>
            </a:r>
            <a:endParaRPr lang="en-US" sz="2200" dirty="0"/>
          </a:p>
        </p:txBody>
      </p:sp>
      <p:sp>
        <p:nvSpPr>
          <p:cNvPr id="9" name="Text 6"/>
          <p:cNvSpPr/>
          <p:nvPr/>
        </p:nvSpPr>
        <p:spPr>
          <a:xfrm>
            <a:off x="4114697" y="1530945"/>
            <a:ext cx="7569011" cy="1451372"/>
          </a:xfrm>
          <a:prstGeom prst="rect">
            <a:avLst/>
          </a:prstGeom>
          <a:noFill/>
          <a:ln/>
        </p:spPr>
        <p:txBody>
          <a:bodyPr wrap="square" lIns="0" tIns="0" rIns="0" bIns="0" rtlCol="0" anchor="t">
            <a:normAutofit/>
          </a:bodyPr>
          <a:lstStyle/>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Rental Car Fleet Manager simplifies basic car-rental operations.</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Users can display, search, rent, and return cars.</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Car availability updates automatically after rental and return.</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Demonstrates Java concepts from CO1, CO2, and CO3.</a:t>
            </a:r>
            <a:endParaRPr lang="en-US" sz="1800" dirty="0"/>
          </a:p>
        </p:txBody>
      </p:sp>
      <p:pic>
        <p:nvPicPr>
          <p:cNvPr id="10" name="Image 1" descr="preencoded.png"/>
          <p:cNvPicPr>
            <a:picLocks noChangeAspect="1"/>
          </p:cNvPicPr>
          <p:nvPr/>
        </p:nvPicPr>
        <p:blipFill>
          <a:blip r:embed="rId4"/>
          <a:stretch>
            <a:fillRect/>
          </a:stretch>
        </p:blipFill>
        <p:spPr>
          <a:xfrm>
            <a:off x="4114697" y="3541117"/>
            <a:ext cx="457189" cy="457200"/>
          </a:xfrm>
          <a:prstGeom prst="rect">
            <a:avLst/>
          </a:prstGeom>
        </p:spPr>
      </p:pic>
      <p:sp>
        <p:nvSpPr>
          <p:cNvPr id="11" name="Text 7"/>
          <p:cNvSpPr/>
          <p:nvPr/>
        </p:nvSpPr>
        <p:spPr>
          <a:xfrm>
            <a:off x="4114697" y="4204692"/>
            <a:ext cx="7569011"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Hanken Grotesk Bold" pitchFamily="34" charset="0"/>
                <a:ea typeface="Hanken Grotesk Bold" pitchFamily="34" charset="-122"/>
                <a:cs typeface="Hanken Grotesk Bold" pitchFamily="34" charset="-120"/>
              </a:rPr>
              <a:t>Future Scope</a:t>
            </a:r>
            <a:endParaRPr lang="en-US" sz="2200" dirty="0"/>
          </a:p>
        </p:txBody>
      </p:sp>
      <p:sp>
        <p:nvSpPr>
          <p:cNvPr id="12" name="Text 8"/>
          <p:cNvSpPr/>
          <p:nvPr/>
        </p:nvSpPr>
        <p:spPr>
          <a:xfrm>
            <a:off x="4114697" y="4691062"/>
            <a:ext cx="7569011" cy="1828502"/>
          </a:xfrm>
          <a:prstGeom prst="rect">
            <a:avLst/>
          </a:prstGeom>
          <a:noFill/>
          <a:ln/>
        </p:spPr>
        <p:txBody>
          <a:bodyPr wrap="square" lIns="0" tIns="0" rIns="0" bIns="0" rtlCol="0" anchor="t">
            <a:normAutofit/>
          </a:bodyPr>
          <a:lstStyle/>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Database integration for larger fleets</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GUI-based rental management</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Online booking and customer management</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Payment integration</a:t>
            </a:r>
            <a:endParaRPr lang="en-US" sz="1800" dirty="0"/>
          </a:p>
          <a:p>
            <a:pPr marL="365760" indent="-365760" algn="l">
              <a:lnSpc>
                <a:spcPct val="117000"/>
              </a:lnSpc>
              <a:buSzPct val="100000"/>
              <a:buChar char="•"/>
            </a:pPr>
            <a:r>
              <a:rPr lang="en-US" sz="1800" dirty="0">
                <a:solidFill>
                  <a:srgbClr val="16171D"/>
                </a:solidFill>
                <a:latin typeface="Hanken Grotesk" pitchFamily="34" charset="0"/>
                <a:ea typeface="Hanken Grotesk" pitchFamily="34" charset="-122"/>
                <a:cs typeface="Hanken Grotesk" pitchFamily="34" charset="-120"/>
              </a:rPr>
              <a:t>Real-time fleet tracking</a:t>
            </a:r>
            <a:endParaRPr lang="en-US" sz="1800" dirty="0"/>
          </a:p>
        </p:txBody>
      </p:sp>
      <p:sp>
        <p:nvSpPr>
          <p:cNvPr id="13" name="Shape 9"/>
          <p:cNvSpPr/>
          <p:nvPr/>
        </p:nvSpPr>
        <p:spPr>
          <a:xfrm>
            <a:off x="4114697" y="3255367"/>
            <a:ext cx="7569011" cy="12700"/>
          </a:xfrm>
          <a:prstGeom prst="rect">
            <a:avLst/>
          </a:prstGeom>
          <a:solidFill>
            <a:srgbClr val="C9C7BF"/>
          </a:solidFill>
          <a:ln/>
        </p:spPr>
      </p:sp>
      <p:pic>
        <p:nvPicPr>
          <p:cNvPr id="14" name="Image 2" descr="preencoded.png"/>
          <p:cNvPicPr>
            <a:picLocks noChangeAspect="1"/>
          </p:cNvPicPr>
          <p:nvPr/>
        </p:nvPicPr>
        <p:blipFill>
          <a:blip r:embed="rId5"/>
          <a:stretch>
            <a:fillRect/>
          </a:stretch>
        </p:blipFill>
        <p:spPr>
          <a:xfrm>
            <a:off x="10995048" y="0"/>
            <a:ext cx="1196548" cy="49857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1080</Words>
  <Application>Microsoft Office PowerPoint</Application>
  <PresentationFormat>Widescreen</PresentationFormat>
  <Paragraphs>150</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Hanken Grotesk</vt:lpstr>
      <vt:lpstr>Hanken Grotesk Bold</vt:lpstr>
      <vt:lpstr>Red Hat Mono Medium</vt:lpstr>
      <vt:lpstr>Hanken Grotesk SemiBold</vt:lpstr>
      <vt:lpstr>Big Shoulders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Saicharan Vedula</cp:lastModifiedBy>
  <cp:revision>2</cp:revision>
  <dcterms:created xsi:type="dcterms:W3CDTF">2026-10-06T16:19:21Z</dcterms:created>
  <dcterms:modified xsi:type="dcterms:W3CDTF">2026-10-07T04:16:35Z</dcterms:modified>
</cp:coreProperties>
</file>